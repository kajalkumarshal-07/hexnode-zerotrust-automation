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10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625D4-DCD4-131D-F03D-62337BC23E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190455-050E-6979-EEBF-7724B35D2C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30ABFE-D94F-0AD4-96DB-DDC6136DEDC8}"/>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DE31C831-303E-0120-7FD7-CA6635CFF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D717E-9019-1280-EE58-D8A2A4D358C8}"/>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89992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4CF0A-878A-4CE2-B3B1-60060210AC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E20CC-8A81-F754-C7F1-5F8ED05AE5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3CB0-7F2C-71B3-49ED-BF98ABCF61F1}"/>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C6312D2C-C138-2EC5-3F6D-D69939776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A50C8-8398-CB9C-14C2-D70B46FB32A3}"/>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318107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4E76-CD91-D4F4-0359-C2E8F29DD1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C074EE-4501-489D-1EED-86C567C1E0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599022-2EA9-B878-9C12-213CBCB7959B}"/>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5C404A66-7CBF-EE03-7D0F-B7CCB099E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77B466-9086-CB03-B4C5-2462751270A4}"/>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120290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CEC3-A2FB-C9A7-AD93-D139805692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E8B402-50F0-A944-F319-2377E52F04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DB3A16-F188-9DF1-6E02-D823379E6A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C67873-2324-7221-4820-C727C62DC1D2}"/>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6" name="Footer Placeholder 5">
            <a:extLst>
              <a:ext uri="{FF2B5EF4-FFF2-40B4-BE49-F238E27FC236}">
                <a16:creationId xmlns:a16="http://schemas.microsoft.com/office/drawing/2014/main" id="{3DF9D9BB-4B01-0DC0-9C06-46A619034E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B2F68-8E2F-E26A-8976-233DB80C76D0}"/>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3447513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6E1E-4CEA-C017-2DE9-A77A7DB6F6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30A50A-2F86-CE23-3EB6-A7E9DED4EF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665868-0A47-B7C5-52BE-8D146BED6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E96F5B-0F7C-81B4-BF5C-885B8315EB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68B398-4CE9-9C62-66CA-07C047E9B3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778890-64C9-E7C3-E067-938F72F64E44}"/>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8" name="Footer Placeholder 7">
            <a:extLst>
              <a:ext uri="{FF2B5EF4-FFF2-40B4-BE49-F238E27FC236}">
                <a16:creationId xmlns:a16="http://schemas.microsoft.com/office/drawing/2014/main" id="{BE94EC44-B04D-F70E-38C3-DFE7A0A16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D79DF1-4655-D552-BA9D-7F1330D8BE72}"/>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3695781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CDDF3-A43E-2936-FEA4-8E33970CFB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F97C41-6230-4AE7-8C4F-684813F832F8}"/>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4" name="Footer Placeholder 3">
            <a:extLst>
              <a:ext uri="{FF2B5EF4-FFF2-40B4-BE49-F238E27FC236}">
                <a16:creationId xmlns:a16="http://schemas.microsoft.com/office/drawing/2014/main" id="{81D69839-043B-E950-F6DA-75E0D24EEE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5CCD72-3A06-6556-6A76-2B331A6B5B71}"/>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3220201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1FBA1-61C1-C914-F7E8-FE5CEB995CFC}"/>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3" name="Footer Placeholder 2">
            <a:extLst>
              <a:ext uri="{FF2B5EF4-FFF2-40B4-BE49-F238E27FC236}">
                <a16:creationId xmlns:a16="http://schemas.microsoft.com/office/drawing/2014/main" id="{BEBB5E13-4541-4243-1F15-0B31768A86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2A1AE6-1D7F-0412-24B5-8EDE4F140282}"/>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2507318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D5243-A2B0-E671-77DE-778CBAC96D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61A08A-EFED-B121-DB28-3568BCE66D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D68CBA-30A2-7736-BA31-C53D9C4180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B16DCE-355A-DD45-EC39-4D252E931153}"/>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6" name="Footer Placeholder 5">
            <a:extLst>
              <a:ext uri="{FF2B5EF4-FFF2-40B4-BE49-F238E27FC236}">
                <a16:creationId xmlns:a16="http://schemas.microsoft.com/office/drawing/2014/main" id="{018005FC-5033-B8C7-6EEA-45D6432B6F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0E112D-9013-F121-5ED1-C0470216DAA7}"/>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1974406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0D881-546A-A71B-8EE3-F16C5B4139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580CEB-E725-B452-9B61-8AA65B1C8E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C4DC02-905C-A3FE-5825-701AE4CFF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7D0AE-2B1C-1601-6DEF-C0E28D883315}"/>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6" name="Footer Placeholder 5">
            <a:extLst>
              <a:ext uri="{FF2B5EF4-FFF2-40B4-BE49-F238E27FC236}">
                <a16:creationId xmlns:a16="http://schemas.microsoft.com/office/drawing/2014/main" id="{81E7F3B3-9204-349D-70C9-3541B984F5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59540-C03D-5A1E-A27F-6FDFB6D0D30C}"/>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2647096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89011-389F-B88A-1AB0-590BB2FC9F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3CCDBC-AA3C-504E-4C5D-9EF388526E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414F25-9EEA-E373-E3D6-60B0825BB33C}"/>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06B36B8F-FA68-A109-CD1B-6FBFE14B84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CCF37E-05D2-10FF-D68B-57882E8BC954}"/>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2605771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97A825-8C09-10D3-4BDF-65F4C7B578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ADEDC3-E0E0-9BDE-495D-F073977267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F3580-1FB8-FE00-5E64-B7430FC9C9E9}"/>
              </a:ext>
            </a:extLst>
          </p:cNvPr>
          <p:cNvSpPr>
            <a:spLocks noGrp="1"/>
          </p:cNvSpPr>
          <p:nvPr>
            <p:ph type="dt" sz="half" idx="10"/>
          </p:nvPr>
        </p:nvSpPr>
        <p:spPr/>
        <p:txBody>
          <a:body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034DD512-07B4-0209-1421-0E3CADC11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76794F-CD9B-FBB2-3BA2-669B90B88C4A}"/>
              </a:ext>
            </a:extLst>
          </p:cNvPr>
          <p:cNvSpPr>
            <a:spLocks noGrp="1"/>
          </p:cNvSpPr>
          <p:nvPr>
            <p:ph type="sldNum" sz="quarter" idx="12"/>
          </p:nvPr>
        </p:nvSpPr>
        <p:spPr/>
        <p:txBody>
          <a:bodyPr/>
          <a:lstStyle/>
          <a:p>
            <a:fld id="{DB8E4E57-2D2F-4093-B7EC-C1A9DB115F73}" type="slidenum">
              <a:rPr lang="en-US" smtClean="0"/>
              <a:t>‹#›</a:t>
            </a:fld>
            <a:endParaRPr lang="en-US"/>
          </a:p>
        </p:txBody>
      </p:sp>
    </p:spTree>
    <p:extLst>
      <p:ext uri="{BB962C8B-B14F-4D97-AF65-F5344CB8AC3E}">
        <p14:creationId xmlns:p14="http://schemas.microsoft.com/office/powerpoint/2010/main" val="800672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E844EA-87FD-76D6-17AD-971E836FC6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9B39E3-E8A0-79D0-5F6A-236FCEE094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CE65C9-FD41-FBA4-F1D0-E8B5A5B8E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8304C8-CC8A-4F1E-A419-7786937DCB47}" type="datetimeFigureOut">
              <a:rPr lang="en-US" smtClean="0"/>
              <a:t>8/6/2026</a:t>
            </a:fld>
            <a:endParaRPr lang="en-US"/>
          </a:p>
        </p:txBody>
      </p:sp>
      <p:sp>
        <p:nvSpPr>
          <p:cNvPr id="5" name="Footer Placeholder 4">
            <a:extLst>
              <a:ext uri="{FF2B5EF4-FFF2-40B4-BE49-F238E27FC236}">
                <a16:creationId xmlns:a16="http://schemas.microsoft.com/office/drawing/2014/main" id="{ACBBAC71-2008-EE30-70F9-F34619180D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DB7238-2E83-0607-BE56-FBECE4FDA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E4E57-2D2F-4093-B7EC-C1A9DB115F73}" type="slidenum">
              <a:rPr lang="en-US" smtClean="0"/>
              <a:t>‹#›</a:t>
            </a:fld>
            <a:endParaRPr lang="en-US"/>
          </a:p>
        </p:txBody>
      </p:sp>
    </p:spTree>
    <p:extLst>
      <p:ext uri="{BB962C8B-B14F-4D97-AF65-F5344CB8AC3E}">
        <p14:creationId xmlns:p14="http://schemas.microsoft.com/office/powerpoint/2010/main" val="4256598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D93998-1670-62B7-94ED-0EEEC325C6F6}"/>
              </a:ext>
            </a:extLst>
          </p:cNvPr>
          <p:cNvSpPr txBox="1"/>
          <p:nvPr/>
        </p:nvSpPr>
        <p:spPr>
          <a:xfrm>
            <a:off x="635000" y="1905000"/>
            <a:ext cx="10922000" cy="923330"/>
          </a:xfrm>
          <a:prstGeom prst="rect">
            <a:avLst/>
          </a:prstGeom>
          <a:noFill/>
        </p:spPr>
        <p:txBody>
          <a:bodyPr vert="horz" wrap="square" rtlCol="0">
            <a:spAutoFit/>
          </a:bodyPr>
          <a:lstStyle/>
          <a:p>
            <a:pPr algn="ctr"/>
            <a:r>
              <a:rPr lang="en-US" sz="5400" b="1">
                <a:solidFill>
                  <a:srgbClr val="CBC0FF"/>
                </a:solidFill>
              </a:rPr>
              <a:t>HEXNODE ZERO TRUST</a:t>
            </a:r>
          </a:p>
        </p:txBody>
      </p:sp>
      <p:sp>
        <p:nvSpPr>
          <p:cNvPr id="3" name="TextBox 2">
            <a:extLst>
              <a:ext uri="{FF2B5EF4-FFF2-40B4-BE49-F238E27FC236}">
                <a16:creationId xmlns:a16="http://schemas.microsoft.com/office/drawing/2014/main" id="{0D966AEC-7BFE-BA38-A363-1DA567F39CA8}"/>
              </a:ext>
            </a:extLst>
          </p:cNvPr>
          <p:cNvSpPr txBox="1"/>
          <p:nvPr/>
        </p:nvSpPr>
        <p:spPr>
          <a:xfrm>
            <a:off x="635000" y="3048000"/>
            <a:ext cx="10922000" cy="707886"/>
          </a:xfrm>
          <a:prstGeom prst="rect">
            <a:avLst/>
          </a:prstGeom>
          <a:noFill/>
        </p:spPr>
        <p:txBody>
          <a:bodyPr vert="horz" wrap="square" rtlCol="0">
            <a:spAutoFit/>
          </a:bodyPr>
          <a:lstStyle/>
          <a:p>
            <a:pPr algn="ctr"/>
            <a:r>
              <a:rPr lang="en-US" sz="4000" b="1">
                <a:solidFill>
                  <a:srgbClr val="FF8888"/>
                </a:solidFill>
              </a:rPr>
              <a:t>AUTOMATION SUITE</a:t>
            </a:r>
          </a:p>
        </p:txBody>
      </p:sp>
      <p:sp>
        <p:nvSpPr>
          <p:cNvPr id="4" name="TextBox 3">
            <a:extLst>
              <a:ext uri="{FF2B5EF4-FFF2-40B4-BE49-F238E27FC236}">
                <a16:creationId xmlns:a16="http://schemas.microsoft.com/office/drawing/2014/main" id="{ED774C51-3EBA-4694-B90E-A4B4FB30AA17}"/>
              </a:ext>
            </a:extLst>
          </p:cNvPr>
          <p:cNvSpPr txBox="1"/>
          <p:nvPr/>
        </p:nvSpPr>
        <p:spPr>
          <a:xfrm>
            <a:off x="635000" y="4064000"/>
            <a:ext cx="10922000" cy="400110"/>
          </a:xfrm>
          <a:prstGeom prst="rect">
            <a:avLst/>
          </a:prstGeom>
          <a:noFill/>
        </p:spPr>
        <p:txBody>
          <a:bodyPr vert="horz" wrap="square" rtlCol="0">
            <a:spAutoFit/>
          </a:bodyPr>
          <a:lstStyle/>
          <a:p>
            <a:pPr algn="ctr"/>
            <a:r>
              <a:rPr lang="en-US" sz="2000" b="1">
                <a:solidFill>
                  <a:srgbClr val="CCCCCC"/>
                </a:solidFill>
              </a:rPr>
              <a:t>Enterprise Security Automation Framework</a:t>
            </a:r>
          </a:p>
        </p:txBody>
      </p:sp>
      <p:sp>
        <p:nvSpPr>
          <p:cNvPr id="5" name="Rectangle 4">
            <a:extLst>
              <a:ext uri="{FF2B5EF4-FFF2-40B4-BE49-F238E27FC236}">
                <a16:creationId xmlns:a16="http://schemas.microsoft.com/office/drawing/2014/main" id="{68485397-E734-83D4-5EBB-390559DEA808}"/>
              </a:ext>
            </a:extLst>
          </p:cNvPr>
          <p:cNvSpPr/>
          <p:nvPr/>
        </p:nvSpPr>
        <p:spPr>
          <a:xfrm>
            <a:off x="0" y="6096000"/>
            <a:ext cx="12192000" cy="762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Powered by Hexnode UEM | REST API | AI Automation</a:t>
            </a:r>
          </a:p>
        </p:txBody>
      </p:sp>
    </p:spTree>
    <p:extLst>
      <p:ext uri="{BB962C8B-B14F-4D97-AF65-F5344CB8AC3E}">
        <p14:creationId xmlns:p14="http://schemas.microsoft.com/office/powerpoint/2010/main" val="3636314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B6ADAC-7DDF-FF9E-9A11-0AD67C855854}"/>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THE CHALLENGE</a:t>
            </a:r>
          </a:p>
        </p:txBody>
      </p:sp>
      <p:sp>
        <p:nvSpPr>
          <p:cNvPr id="3" name="Rectangle 2">
            <a:extLst>
              <a:ext uri="{FF2B5EF4-FFF2-40B4-BE49-F238E27FC236}">
                <a16:creationId xmlns:a16="http://schemas.microsoft.com/office/drawing/2014/main" id="{4F2D923A-3E4D-18D8-F0BA-7B2A2E848BA6}"/>
              </a:ext>
            </a:extLst>
          </p:cNvPr>
          <p:cNvSpPr/>
          <p:nvPr/>
        </p:nvSpPr>
        <p:spPr>
          <a:xfrm>
            <a:off x="635000" y="2794000"/>
            <a:ext cx="3556000" cy="1524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FFFF"/>
                </a:solidFill>
                <a:highlight>
                  <a:srgbClr val="000000"/>
                </a:highlight>
              </a:rPr>
              <a:t>207 Days - Avg Time to Detect Threats</a:t>
            </a:r>
          </a:p>
        </p:txBody>
      </p:sp>
      <p:sp>
        <p:nvSpPr>
          <p:cNvPr id="4" name="Rectangle 3">
            <a:extLst>
              <a:ext uri="{FF2B5EF4-FFF2-40B4-BE49-F238E27FC236}">
                <a16:creationId xmlns:a16="http://schemas.microsoft.com/office/drawing/2014/main" id="{D0240825-C16E-554F-2888-E0C32105FDC6}"/>
              </a:ext>
            </a:extLst>
          </p:cNvPr>
          <p:cNvSpPr/>
          <p:nvPr/>
        </p:nvSpPr>
        <p:spPr>
          <a:xfrm>
            <a:off x="4318000" y="2794000"/>
            <a:ext cx="3556000" cy="1524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FFFF"/>
                </a:solidFill>
                <a:highlight>
                  <a:srgbClr val="000000"/>
                </a:highlight>
              </a:rPr>
              <a:t>73 Days - Avg Time to Contain</a:t>
            </a:r>
          </a:p>
        </p:txBody>
      </p:sp>
      <p:sp>
        <p:nvSpPr>
          <p:cNvPr id="5" name="Rectangle 4">
            <a:extLst>
              <a:ext uri="{FF2B5EF4-FFF2-40B4-BE49-F238E27FC236}">
                <a16:creationId xmlns:a16="http://schemas.microsoft.com/office/drawing/2014/main" id="{985A00F3-9AE0-7B59-FE9F-6443C5CAC4BE}"/>
              </a:ext>
            </a:extLst>
          </p:cNvPr>
          <p:cNvSpPr/>
          <p:nvPr/>
        </p:nvSpPr>
        <p:spPr>
          <a:xfrm>
            <a:off x="8001000" y="2794000"/>
            <a:ext cx="3556000" cy="1524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FFFF"/>
                </a:solidFill>
                <a:highlight>
                  <a:srgbClr val="000000"/>
                </a:highlight>
              </a:rPr>
              <a:t>.45M - Avg Breach Cost</a:t>
            </a:r>
          </a:p>
        </p:txBody>
      </p:sp>
      <p:sp>
        <p:nvSpPr>
          <p:cNvPr id="6" name="TextBox 5">
            <a:extLst>
              <a:ext uri="{FF2B5EF4-FFF2-40B4-BE49-F238E27FC236}">
                <a16:creationId xmlns:a16="http://schemas.microsoft.com/office/drawing/2014/main" id="{00510756-7886-4F82-C3CD-8528AE6337B4}"/>
              </a:ext>
            </a:extLst>
          </p:cNvPr>
          <p:cNvSpPr txBox="1"/>
          <p:nvPr/>
        </p:nvSpPr>
        <p:spPr>
          <a:xfrm>
            <a:off x="635000" y="4572000"/>
            <a:ext cx="10922000" cy="1323439"/>
          </a:xfrm>
          <a:prstGeom prst="rect">
            <a:avLst/>
          </a:prstGeom>
          <a:noFill/>
        </p:spPr>
        <p:txBody>
          <a:bodyPr vert="horz" wrap="square" rtlCol="0">
            <a:spAutoFit/>
          </a:bodyPr>
          <a:lstStyle/>
          <a:p>
            <a:r>
              <a:rPr lang="en-US" sz="1600">
                <a:solidFill>
                  <a:srgbClr val="CCCCCC"/>
                </a:solidFill>
              </a:rPr>
              <a:t>Manual security processes are slow and error-prone
Lack of real-time compliance monitoring
Siloed security tools without automation
Growing attack surface with remote workforce
Regulatory compliance pressure (GDPR, HIPAA, SOC2)</a:t>
            </a:r>
          </a:p>
        </p:txBody>
      </p:sp>
    </p:spTree>
    <p:extLst>
      <p:ext uri="{BB962C8B-B14F-4D97-AF65-F5344CB8AC3E}">
        <p14:creationId xmlns:p14="http://schemas.microsoft.com/office/powerpoint/2010/main" val="157123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425A2-B0B0-9C3C-3B40-E6A9EE0217D4}"/>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FFFFFF"/>
                </a:solidFill>
              </a:rPr>
              <a:t>OUR SOLUTION</a:t>
            </a:r>
          </a:p>
        </p:txBody>
      </p:sp>
      <p:sp>
        <p:nvSpPr>
          <p:cNvPr id="3" name="Rectangle 2">
            <a:extLst>
              <a:ext uri="{FF2B5EF4-FFF2-40B4-BE49-F238E27FC236}">
                <a16:creationId xmlns:a16="http://schemas.microsoft.com/office/drawing/2014/main" id="{5AA5BF95-C64A-FEEE-C651-FB836442BDA8}"/>
              </a:ext>
            </a:extLst>
          </p:cNvPr>
          <p:cNvSpPr/>
          <p:nvPr/>
        </p:nvSpPr>
        <p:spPr>
          <a:xfrm>
            <a:off x="635000" y="1524000"/>
            <a:ext cx="2540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CBC0FF"/>
                </a:solidFill>
              </a:rPr>
              <a:t>ZERO TRUST - Never Trust, Always Verify</a:t>
            </a:r>
          </a:p>
        </p:txBody>
      </p:sp>
      <p:sp>
        <p:nvSpPr>
          <p:cNvPr id="4" name="Rectangle 3">
            <a:extLst>
              <a:ext uri="{FF2B5EF4-FFF2-40B4-BE49-F238E27FC236}">
                <a16:creationId xmlns:a16="http://schemas.microsoft.com/office/drawing/2014/main" id="{11FD7E95-73A9-9B4A-4FCB-07F5C531AC7A}"/>
              </a:ext>
            </a:extLst>
          </p:cNvPr>
          <p:cNvSpPr/>
          <p:nvPr/>
        </p:nvSpPr>
        <p:spPr>
          <a:xfrm>
            <a:off x="3429000" y="1524000"/>
            <a:ext cx="2540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8888"/>
                </a:solidFill>
              </a:rPr>
              <a:t>AUTOMATED - Real-time Response</a:t>
            </a:r>
          </a:p>
        </p:txBody>
      </p:sp>
      <p:sp>
        <p:nvSpPr>
          <p:cNvPr id="5" name="Rectangle 4">
            <a:extLst>
              <a:ext uri="{FF2B5EF4-FFF2-40B4-BE49-F238E27FC236}">
                <a16:creationId xmlns:a16="http://schemas.microsoft.com/office/drawing/2014/main" id="{5414AC9C-2F4F-09B5-882B-CDDC0E14035E}"/>
              </a:ext>
            </a:extLst>
          </p:cNvPr>
          <p:cNvSpPr/>
          <p:nvPr/>
        </p:nvSpPr>
        <p:spPr>
          <a:xfrm>
            <a:off x="6223000" y="1524000"/>
            <a:ext cx="2540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CBC0FF"/>
                </a:solidFill>
              </a:rPr>
              <a:t>INTEGRATED - SIEM + UEM + API</a:t>
            </a:r>
          </a:p>
        </p:txBody>
      </p:sp>
      <p:sp>
        <p:nvSpPr>
          <p:cNvPr id="6" name="Rectangle 5">
            <a:extLst>
              <a:ext uri="{FF2B5EF4-FFF2-40B4-BE49-F238E27FC236}">
                <a16:creationId xmlns:a16="http://schemas.microsoft.com/office/drawing/2014/main" id="{5E1CCDC1-D90D-5E44-955C-440338F92AE0}"/>
              </a:ext>
            </a:extLst>
          </p:cNvPr>
          <p:cNvSpPr/>
          <p:nvPr/>
        </p:nvSpPr>
        <p:spPr>
          <a:xfrm>
            <a:off x="9017000" y="1524000"/>
            <a:ext cx="2540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8888"/>
                </a:solidFill>
              </a:rPr>
              <a:t>SCALABLE - 10 to 10,000+ Devices</a:t>
            </a:r>
          </a:p>
        </p:txBody>
      </p:sp>
      <p:sp>
        <p:nvSpPr>
          <p:cNvPr id="7" name="TextBox 6">
            <a:extLst>
              <a:ext uri="{FF2B5EF4-FFF2-40B4-BE49-F238E27FC236}">
                <a16:creationId xmlns:a16="http://schemas.microsoft.com/office/drawing/2014/main" id="{E625C5B6-F6D1-8624-396E-258520140BFB}"/>
              </a:ext>
            </a:extLst>
          </p:cNvPr>
          <p:cNvSpPr txBox="1"/>
          <p:nvPr/>
        </p:nvSpPr>
        <p:spPr>
          <a:xfrm>
            <a:off x="635000" y="3810000"/>
            <a:ext cx="10922000" cy="1200329"/>
          </a:xfrm>
          <a:prstGeom prst="rect">
            <a:avLst/>
          </a:prstGeom>
          <a:noFill/>
        </p:spPr>
        <p:txBody>
          <a:bodyPr vert="horz" wrap="square" rtlCol="0">
            <a:spAutoFit/>
          </a:bodyPr>
          <a:lstStyle/>
          <a:p>
            <a:r>
              <a:rPr lang="en-US">
                <a:solidFill>
                  <a:srgbClr val="FFFFFF"/>
                </a:solidFill>
              </a:rPr>
              <a:t>Automated compliance checking and remediation
Real-time vulnerability scanning and patching
SIEM integration for security orchestration
Zero Trust architecture implementation</a:t>
            </a:r>
          </a:p>
        </p:txBody>
      </p:sp>
    </p:spTree>
    <p:extLst>
      <p:ext uri="{BB962C8B-B14F-4D97-AF65-F5344CB8AC3E}">
        <p14:creationId xmlns:p14="http://schemas.microsoft.com/office/powerpoint/2010/main" val="3505036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5EA48C-6CC9-D722-B4AB-AE82BCEB1433}"/>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ARCHITECTURE OVERVIEW</a:t>
            </a:r>
          </a:p>
        </p:txBody>
      </p:sp>
      <p:sp>
        <p:nvSpPr>
          <p:cNvPr id="3" name="Rectangle 2">
            <a:extLst>
              <a:ext uri="{FF2B5EF4-FFF2-40B4-BE49-F238E27FC236}">
                <a16:creationId xmlns:a16="http://schemas.microsoft.com/office/drawing/2014/main" id="{70F1BF00-454E-1685-B529-94BDBFE1F490}"/>
              </a:ext>
            </a:extLst>
          </p:cNvPr>
          <p:cNvSpPr/>
          <p:nvPr/>
        </p:nvSpPr>
        <p:spPr>
          <a:xfrm>
            <a:off x="635000" y="1905000"/>
            <a:ext cx="2540000" cy="2286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FFFF"/>
                </a:solidFill>
                <a:highlight>
                  <a:srgbClr val="000000"/>
                </a:highlight>
              </a:rPr>
              <a:t>SIEM ALERTS - Splunk, Carbon Black, CrowdStrike</a:t>
            </a:r>
          </a:p>
        </p:txBody>
      </p:sp>
      <p:sp>
        <p:nvSpPr>
          <p:cNvPr id="4" name="TextBox 3">
            <a:extLst>
              <a:ext uri="{FF2B5EF4-FFF2-40B4-BE49-F238E27FC236}">
                <a16:creationId xmlns:a16="http://schemas.microsoft.com/office/drawing/2014/main" id="{8EFA0E53-36E8-4C85-0C11-2DFC82A2A390}"/>
              </a:ext>
            </a:extLst>
          </p:cNvPr>
          <p:cNvSpPr txBox="1"/>
          <p:nvPr/>
        </p:nvSpPr>
        <p:spPr>
          <a:xfrm>
            <a:off x="3302000" y="2667000"/>
            <a:ext cx="762000" cy="646331"/>
          </a:xfrm>
          <a:prstGeom prst="rect">
            <a:avLst/>
          </a:prstGeom>
          <a:noFill/>
        </p:spPr>
        <p:txBody>
          <a:bodyPr vert="horz" wrap="square" rtlCol="0">
            <a:spAutoFit/>
          </a:bodyPr>
          <a:lstStyle/>
          <a:p>
            <a:pPr algn="ctr"/>
            <a:r>
              <a:rPr lang="en-US" sz="3600" b="1">
                <a:solidFill>
                  <a:srgbClr val="FF8888"/>
                </a:solidFill>
              </a:rPr>
              <a:t>--&gt;</a:t>
            </a:r>
          </a:p>
        </p:txBody>
      </p:sp>
      <p:sp>
        <p:nvSpPr>
          <p:cNvPr id="5" name="Rectangle 4">
            <a:extLst>
              <a:ext uri="{FF2B5EF4-FFF2-40B4-BE49-F238E27FC236}">
                <a16:creationId xmlns:a16="http://schemas.microsoft.com/office/drawing/2014/main" id="{6DF99504-1005-391A-8173-39D1813FC064}"/>
              </a:ext>
            </a:extLst>
          </p:cNvPr>
          <p:cNvSpPr/>
          <p:nvPr/>
        </p:nvSpPr>
        <p:spPr>
          <a:xfrm>
            <a:off x="4191000" y="1905000"/>
            <a:ext cx="3175000" cy="2286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22E2E"/>
                </a:solidFill>
              </a:rPr>
              <a:t>HEXNODE UEM - REST API Gateway, Automation Engine, Policy Management</a:t>
            </a:r>
          </a:p>
        </p:txBody>
      </p:sp>
      <p:sp>
        <p:nvSpPr>
          <p:cNvPr id="6" name="TextBox 5">
            <a:extLst>
              <a:ext uri="{FF2B5EF4-FFF2-40B4-BE49-F238E27FC236}">
                <a16:creationId xmlns:a16="http://schemas.microsoft.com/office/drawing/2014/main" id="{D2C71561-91D2-4E2C-EAF4-3D80EEC460DA}"/>
              </a:ext>
            </a:extLst>
          </p:cNvPr>
          <p:cNvSpPr txBox="1"/>
          <p:nvPr/>
        </p:nvSpPr>
        <p:spPr>
          <a:xfrm>
            <a:off x="7493000" y="2667000"/>
            <a:ext cx="762000" cy="646331"/>
          </a:xfrm>
          <a:prstGeom prst="rect">
            <a:avLst/>
          </a:prstGeom>
          <a:noFill/>
        </p:spPr>
        <p:txBody>
          <a:bodyPr vert="horz" wrap="square" rtlCol="0">
            <a:spAutoFit/>
          </a:bodyPr>
          <a:lstStyle/>
          <a:p>
            <a:pPr algn="ctr"/>
            <a:r>
              <a:rPr lang="en-US" sz="3600" b="1">
                <a:solidFill>
                  <a:srgbClr val="FF8888"/>
                </a:solidFill>
              </a:rPr>
              <a:t>--&gt;</a:t>
            </a:r>
          </a:p>
        </p:txBody>
      </p:sp>
      <p:sp>
        <p:nvSpPr>
          <p:cNvPr id="7" name="Rectangle 6">
            <a:extLst>
              <a:ext uri="{FF2B5EF4-FFF2-40B4-BE49-F238E27FC236}">
                <a16:creationId xmlns:a16="http://schemas.microsoft.com/office/drawing/2014/main" id="{E9B6EC2C-B306-FFCC-4101-990B07B19448}"/>
              </a:ext>
            </a:extLst>
          </p:cNvPr>
          <p:cNvSpPr/>
          <p:nvPr/>
        </p:nvSpPr>
        <p:spPr>
          <a:xfrm>
            <a:off x="8382000" y="1905000"/>
            <a:ext cx="3175000" cy="228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22E2E"/>
                </a:solidFill>
              </a:rPr>
              <a:t>DEVICES - Windows, macOS, Linux, Endpoints</a:t>
            </a:r>
          </a:p>
        </p:txBody>
      </p:sp>
      <p:sp>
        <p:nvSpPr>
          <p:cNvPr id="8" name="Rectangle 7">
            <a:extLst>
              <a:ext uri="{FF2B5EF4-FFF2-40B4-BE49-F238E27FC236}">
                <a16:creationId xmlns:a16="http://schemas.microsoft.com/office/drawing/2014/main" id="{27A2EF52-2C5C-4014-4611-23D2CCF782E2}"/>
              </a:ext>
            </a:extLst>
          </p:cNvPr>
          <p:cNvSpPr/>
          <p:nvPr/>
        </p:nvSpPr>
        <p:spPr>
          <a:xfrm>
            <a:off x="1905000" y="4699000"/>
            <a:ext cx="8382000" cy="1270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CBC0FF"/>
                </a:solidFill>
              </a:rPr>
              <a:t>AUTOMATED REMEDIATION: Quarantine | Patch | Enforce | Report</a:t>
            </a:r>
          </a:p>
        </p:txBody>
      </p:sp>
    </p:spTree>
    <p:extLst>
      <p:ext uri="{BB962C8B-B14F-4D97-AF65-F5344CB8AC3E}">
        <p14:creationId xmlns:p14="http://schemas.microsoft.com/office/powerpoint/2010/main" val="673859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1282EF-ADAF-B9CE-0DF2-AF032ACDF4C8}"/>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COMPLIANCE CHECK</a:t>
            </a:r>
          </a:p>
        </p:txBody>
      </p:sp>
      <p:pic>
        <p:nvPicPr>
          <p:cNvPr id="4" name="Picture 3">
            <a:extLst>
              <a:ext uri="{FF2B5EF4-FFF2-40B4-BE49-F238E27FC236}">
                <a16:creationId xmlns:a16="http://schemas.microsoft.com/office/drawing/2014/main" id="{D8D966F9-443A-E075-C434-C64922839C0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61000" y="1270000"/>
            <a:ext cx="1270000" cy="1270000"/>
          </a:xfrm>
          <a:prstGeom prst="rect">
            <a:avLst/>
          </a:prstGeom>
        </p:spPr>
      </p:pic>
      <p:sp>
        <p:nvSpPr>
          <p:cNvPr id="5" name="Rectangle 4">
            <a:extLst>
              <a:ext uri="{FF2B5EF4-FFF2-40B4-BE49-F238E27FC236}">
                <a16:creationId xmlns:a16="http://schemas.microsoft.com/office/drawing/2014/main" id="{599E3FB1-D7AE-97EC-B187-CA6007106C3B}"/>
              </a:ext>
            </a:extLst>
          </p:cNvPr>
          <p:cNvSpPr/>
          <p:nvPr/>
        </p:nvSpPr>
        <p:spPr>
          <a:xfrm>
            <a:off x="635000" y="2794000"/>
            <a:ext cx="2286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Firewall Status</a:t>
            </a:r>
          </a:p>
        </p:txBody>
      </p:sp>
      <p:sp>
        <p:nvSpPr>
          <p:cNvPr id="6" name="Rectangle 5">
            <a:extLst>
              <a:ext uri="{FF2B5EF4-FFF2-40B4-BE49-F238E27FC236}">
                <a16:creationId xmlns:a16="http://schemas.microsoft.com/office/drawing/2014/main" id="{A72761DC-A731-E111-0983-7CD57203F05C}"/>
              </a:ext>
            </a:extLst>
          </p:cNvPr>
          <p:cNvSpPr/>
          <p:nvPr/>
        </p:nvSpPr>
        <p:spPr>
          <a:xfrm>
            <a:off x="3048000" y="2794000"/>
            <a:ext cx="2286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Disk Encryption</a:t>
            </a:r>
          </a:p>
        </p:txBody>
      </p:sp>
      <p:sp>
        <p:nvSpPr>
          <p:cNvPr id="7" name="Rectangle 6">
            <a:extLst>
              <a:ext uri="{FF2B5EF4-FFF2-40B4-BE49-F238E27FC236}">
                <a16:creationId xmlns:a16="http://schemas.microsoft.com/office/drawing/2014/main" id="{CA904593-5BD7-07E9-AC8D-DBCC3B449805}"/>
              </a:ext>
            </a:extLst>
          </p:cNvPr>
          <p:cNvSpPr/>
          <p:nvPr/>
        </p:nvSpPr>
        <p:spPr>
          <a:xfrm>
            <a:off x="5461000" y="2794000"/>
            <a:ext cx="2286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Defender Health</a:t>
            </a:r>
          </a:p>
        </p:txBody>
      </p:sp>
      <p:sp>
        <p:nvSpPr>
          <p:cNvPr id="8" name="Rectangle 7">
            <a:extLst>
              <a:ext uri="{FF2B5EF4-FFF2-40B4-BE49-F238E27FC236}">
                <a16:creationId xmlns:a16="http://schemas.microsoft.com/office/drawing/2014/main" id="{431CE525-9630-5647-5D09-D8FE72DD8F06}"/>
              </a:ext>
            </a:extLst>
          </p:cNvPr>
          <p:cNvSpPr/>
          <p:nvPr/>
        </p:nvSpPr>
        <p:spPr>
          <a:xfrm>
            <a:off x="7874000" y="2794000"/>
            <a:ext cx="2286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Update Status</a:t>
            </a:r>
          </a:p>
        </p:txBody>
      </p:sp>
      <p:sp>
        <p:nvSpPr>
          <p:cNvPr id="9" name="TextBox 8">
            <a:extLst>
              <a:ext uri="{FF2B5EF4-FFF2-40B4-BE49-F238E27FC236}">
                <a16:creationId xmlns:a16="http://schemas.microsoft.com/office/drawing/2014/main" id="{6595E521-9529-A132-BD86-68C0E916A171}"/>
              </a:ext>
            </a:extLst>
          </p:cNvPr>
          <p:cNvSpPr txBox="1"/>
          <p:nvPr/>
        </p:nvSpPr>
        <p:spPr>
          <a:xfrm>
            <a:off x="635000" y="4445000"/>
            <a:ext cx="10922000" cy="1077218"/>
          </a:xfrm>
          <a:prstGeom prst="rect">
            <a:avLst/>
          </a:prstGeom>
          <a:noFill/>
        </p:spPr>
        <p:txBody>
          <a:bodyPr vert="horz" wrap="square" rtlCol="0">
            <a:spAutoFit/>
          </a:bodyPr>
          <a:lstStyle/>
          <a:p>
            <a:r>
              <a:rPr lang="en-US" sz="1600">
                <a:solidFill>
                  <a:srgbClr val="CCCCCC"/>
                </a:solidFill>
              </a:rPr>
              <a:t>Real-time device compliance monitoring
Jailbreak/Root detection
Security service verification
Automatic quarantine for non-compliant devices</a:t>
            </a:r>
          </a:p>
        </p:txBody>
      </p:sp>
    </p:spTree>
    <p:extLst>
      <p:ext uri="{BB962C8B-B14F-4D97-AF65-F5344CB8AC3E}">
        <p14:creationId xmlns:p14="http://schemas.microsoft.com/office/powerpoint/2010/main" val="2125192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56B79-2E34-3C58-E148-EAC4C9CF1990}"/>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VULNERABILITY SCANNING</a:t>
            </a:r>
          </a:p>
        </p:txBody>
      </p:sp>
      <p:pic>
        <p:nvPicPr>
          <p:cNvPr id="4" name="Picture 3">
            <a:extLst>
              <a:ext uri="{FF2B5EF4-FFF2-40B4-BE49-F238E27FC236}">
                <a16:creationId xmlns:a16="http://schemas.microsoft.com/office/drawing/2014/main" id="{08E0FF30-1469-341A-B9CA-9EFDB7ADC87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61000" y="1270000"/>
            <a:ext cx="1270000" cy="1270000"/>
          </a:xfrm>
          <a:prstGeom prst="rect">
            <a:avLst/>
          </a:prstGeom>
        </p:spPr>
      </p:pic>
      <p:sp>
        <p:nvSpPr>
          <p:cNvPr id="5" name="Rectangle 4">
            <a:extLst>
              <a:ext uri="{FF2B5EF4-FFF2-40B4-BE49-F238E27FC236}">
                <a16:creationId xmlns:a16="http://schemas.microsoft.com/office/drawing/2014/main" id="{F44555B2-EE9C-899A-9782-96BD356A6726}"/>
              </a:ext>
            </a:extLst>
          </p:cNvPr>
          <p:cNvSpPr/>
          <p:nvPr/>
        </p:nvSpPr>
        <p:spPr>
          <a:xfrm>
            <a:off x="635000" y="2794000"/>
            <a:ext cx="2540000" cy="1016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rPr>
              <a:t>CRITICAL: +10 pts</a:t>
            </a:r>
          </a:p>
        </p:txBody>
      </p:sp>
      <p:sp>
        <p:nvSpPr>
          <p:cNvPr id="6" name="Rectangle 5">
            <a:extLst>
              <a:ext uri="{FF2B5EF4-FFF2-40B4-BE49-F238E27FC236}">
                <a16:creationId xmlns:a16="http://schemas.microsoft.com/office/drawing/2014/main" id="{CABB08DE-D566-A780-D067-B92D987A0BED}"/>
              </a:ext>
            </a:extLst>
          </p:cNvPr>
          <p:cNvSpPr/>
          <p:nvPr/>
        </p:nvSpPr>
        <p:spPr>
          <a:xfrm>
            <a:off x="3429000" y="2794000"/>
            <a:ext cx="2540000" cy="1016000"/>
          </a:xfrm>
          <a:prstGeom prst="rect">
            <a:avLst/>
          </a:prstGeom>
          <a:solidFill>
            <a:srgbClr val="CC00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FFFFFF"/>
                </a:solidFill>
              </a:rPr>
              <a:t>HIGH: +7 pts</a:t>
            </a:r>
          </a:p>
        </p:txBody>
      </p:sp>
      <p:sp>
        <p:nvSpPr>
          <p:cNvPr id="7" name="Rectangle 6">
            <a:extLst>
              <a:ext uri="{FF2B5EF4-FFF2-40B4-BE49-F238E27FC236}">
                <a16:creationId xmlns:a16="http://schemas.microsoft.com/office/drawing/2014/main" id="{AD985EED-E524-A7E7-9FA4-4985D3CDE375}"/>
              </a:ext>
            </a:extLst>
          </p:cNvPr>
          <p:cNvSpPr/>
          <p:nvPr/>
        </p:nvSpPr>
        <p:spPr>
          <a:xfrm>
            <a:off x="6223000" y="2794000"/>
            <a:ext cx="2540000" cy="1016000"/>
          </a:xfrm>
          <a:prstGeom prst="rect">
            <a:avLst/>
          </a:prstGeom>
          <a:solidFill>
            <a:srgbClr val="00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222E2E"/>
                </a:solidFill>
              </a:rPr>
              <a:t>MEDIUM: +4 pts</a:t>
            </a:r>
          </a:p>
        </p:txBody>
      </p:sp>
      <p:sp>
        <p:nvSpPr>
          <p:cNvPr id="8" name="Rectangle 7">
            <a:extLst>
              <a:ext uri="{FF2B5EF4-FFF2-40B4-BE49-F238E27FC236}">
                <a16:creationId xmlns:a16="http://schemas.microsoft.com/office/drawing/2014/main" id="{BCFC3CA3-1395-3F71-257A-3A6B7755D309}"/>
              </a:ext>
            </a:extLst>
          </p:cNvPr>
          <p:cNvSpPr/>
          <p:nvPr/>
        </p:nvSpPr>
        <p:spPr>
          <a:xfrm>
            <a:off x="9017000" y="2794000"/>
            <a:ext cx="2540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rgbClr val="222E2E"/>
                </a:solidFill>
              </a:rPr>
              <a:t>LOW: +1 pt</a:t>
            </a:r>
          </a:p>
        </p:txBody>
      </p:sp>
      <p:sp>
        <p:nvSpPr>
          <p:cNvPr id="9" name="TextBox 8">
            <a:extLst>
              <a:ext uri="{FF2B5EF4-FFF2-40B4-BE49-F238E27FC236}">
                <a16:creationId xmlns:a16="http://schemas.microsoft.com/office/drawing/2014/main" id="{EBF3BC7D-60ED-2BC4-621E-B5B2FCDF34AA}"/>
              </a:ext>
            </a:extLst>
          </p:cNvPr>
          <p:cNvSpPr txBox="1"/>
          <p:nvPr/>
        </p:nvSpPr>
        <p:spPr>
          <a:xfrm>
            <a:off x="635000" y="4191000"/>
            <a:ext cx="10922000" cy="1077218"/>
          </a:xfrm>
          <a:prstGeom prst="rect">
            <a:avLst/>
          </a:prstGeom>
          <a:noFill/>
        </p:spPr>
        <p:txBody>
          <a:bodyPr vert="horz" wrap="square" rtlCol="0">
            <a:spAutoFit/>
          </a:bodyPr>
          <a:lstStyle/>
          <a:p>
            <a:r>
              <a:rPr lang="en-US" sz="1600">
                <a:solidFill>
                  <a:srgbClr val="CCCCCC"/>
                </a:solidFill>
              </a:rPr>
              <a:t>CVE detection and patch verification
Software inventory and version auditing
Suspicious process detection
Malicious network connection monitoring</a:t>
            </a:r>
          </a:p>
        </p:txBody>
      </p:sp>
    </p:spTree>
    <p:extLst>
      <p:ext uri="{BB962C8B-B14F-4D97-AF65-F5344CB8AC3E}">
        <p14:creationId xmlns:p14="http://schemas.microsoft.com/office/powerpoint/2010/main" val="2160196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4551A0-22B7-70C1-D5D2-5A22F76A64CD}"/>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FIREWALL ENFORCEMENT</a:t>
            </a:r>
          </a:p>
        </p:txBody>
      </p:sp>
      <p:pic>
        <p:nvPicPr>
          <p:cNvPr id="4" name="Picture 3">
            <a:extLst>
              <a:ext uri="{FF2B5EF4-FFF2-40B4-BE49-F238E27FC236}">
                <a16:creationId xmlns:a16="http://schemas.microsoft.com/office/drawing/2014/main" id="{8D32685D-34B9-B30F-F1EF-BFE138905DD9}"/>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5461000" y="1270000"/>
            <a:ext cx="1270000" cy="1270000"/>
          </a:xfrm>
          <a:prstGeom prst="rect">
            <a:avLst/>
          </a:prstGeom>
        </p:spPr>
      </p:pic>
      <p:sp>
        <p:nvSpPr>
          <p:cNvPr id="5" name="Rectangle 4">
            <a:extLst>
              <a:ext uri="{FF2B5EF4-FFF2-40B4-BE49-F238E27FC236}">
                <a16:creationId xmlns:a16="http://schemas.microsoft.com/office/drawing/2014/main" id="{E2B0F34E-0705-F010-0A80-C6E777EB846A}"/>
              </a:ext>
            </a:extLst>
          </p:cNvPr>
          <p:cNvSpPr/>
          <p:nvPr/>
        </p:nvSpPr>
        <p:spPr>
          <a:xfrm>
            <a:off x="1270000" y="2794000"/>
            <a:ext cx="9652000" cy="762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FFFF"/>
                </a:solidFill>
                <a:highlight>
                  <a:srgbClr val="000000"/>
                </a:highlight>
              </a:rPr>
              <a:t>BLOCKED PORTS: 3389 (RDP), 445 (SMB), 135, 137, 138, 139</a:t>
            </a:r>
          </a:p>
        </p:txBody>
      </p:sp>
      <p:sp>
        <p:nvSpPr>
          <p:cNvPr id="6" name="TextBox 5">
            <a:extLst>
              <a:ext uri="{FF2B5EF4-FFF2-40B4-BE49-F238E27FC236}">
                <a16:creationId xmlns:a16="http://schemas.microsoft.com/office/drawing/2014/main" id="{F23DBA78-CA14-6918-7E8D-A466861B155F}"/>
              </a:ext>
            </a:extLst>
          </p:cNvPr>
          <p:cNvSpPr txBox="1"/>
          <p:nvPr/>
        </p:nvSpPr>
        <p:spPr>
          <a:xfrm>
            <a:off x="635000" y="3937000"/>
            <a:ext cx="10922000" cy="1323439"/>
          </a:xfrm>
          <a:prstGeom prst="rect">
            <a:avLst/>
          </a:prstGeom>
          <a:noFill/>
        </p:spPr>
        <p:txBody>
          <a:bodyPr vert="horz" wrap="square" rtlCol="0">
            <a:spAutoFit/>
          </a:bodyPr>
          <a:lstStyle/>
          <a:p>
            <a:r>
              <a:rPr lang="en-US" sz="1600">
                <a:solidFill>
                  <a:srgbClr val="CCCCCC"/>
                </a:solidFill>
              </a:rPr>
              <a:t>Windows Firewall profile management
Malicious IP blacklisting
Security service enforcement
Unnecessary service disabling
Firewall logging and monitoring</a:t>
            </a:r>
          </a:p>
        </p:txBody>
      </p:sp>
    </p:spTree>
    <p:extLst>
      <p:ext uri="{BB962C8B-B14F-4D97-AF65-F5344CB8AC3E}">
        <p14:creationId xmlns:p14="http://schemas.microsoft.com/office/powerpoint/2010/main" val="4190266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60315C-0AA8-F4B9-2348-04CA718AAA3F}"/>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OS UPDATES AUTOMATION</a:t>
            </a:r>
          </a:p>
        </p:txBody>
      </p:sp>
      <p:sp>
        <p:nvSpPr>
          <p:cNvPr id="3" name="Rectangle 2">
            <a:extLst>
              <a:ext uri="{FF2B5EF4-FFF2-40B4-BE49-F238E27FC236}">
                <a16:creationId xmlns:a16="http://schemas.microsoft.com/office/drawing/2014/main" id="{F1384123-06CD-F2CE-B79D-D6BC1D751D25}"/>
              </a:ext>
            </a:extLst>
          </p:cNvPr>
          <p:cNvSpPr/>
          <p:nvPr/>
        </p:nvSpPr>
        <p:spPr>
          <a:xfrm>
            <a:off x="635000" y="2794000"/>
            <a:ext cx="2286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SCAN</a:t>
            </a:r>
          </a:p>
        </p:txBody>
      </p:sp>
      <p:sp>
        <p:nvSpPr>
          <p:cNvPr id="4" name="TextBox 3">
            <a:extLst>
              <a:ext uri="{FF2B5EF4-FFF2-40B4-BE49-F238E27FC236}">
                <a16:creationId xmlns:a16="http://schemas.microsoft.com/office/drawing/2014/main" id="{316B8B36-DDC9-46C2-A3E6-F1A127B567E1}"/>
              </a:ext>
            </a:extLst>
          </p:cNvPr>
          <p:cNvSpPr txBox="1"/>
          <p:nvPr/>
        </p:nvSpPr>
        <p:spPr>
          <a:xfrm>
            <a:off x="3048000" y="2921000"/>
            <a:ext cx="508000" cy="1200329"/>
          </a:xfrm>
          <a:prstGeom prst="rect">
            <a:avLst/>
          </a:prstGeom>
          <a:noFill/>
        </p:spPr>
        <p:txBody>
          <a:bodyPr vert="horz" wrap="square" rtlCol="0">
            <a:spAutoFit/>
          </a:bodyPr>
          <a:lstStyle/>
          <a:p>
            <a:pPr algn="ctr"/>
            <a:r>
              <a:rPr lang="en-US" sz="3600" b="1">
                <a:solidFill>
                  <a:srgbClr val="CBC0FF"/>
                </a:solidFill>
              </a:rPr>
              <a:t>--&gt;</a:t>
            </a:r>
          </a:p>
        </p:txBody>
      </p:sp>
      <p:sp>
        <p:nvSpPr>
          <p:cNvPr id="5" name="Rectangle 4">
            <a:extLst>
              <a:ext uri="{FF2B5EF4-FFF2-40B4-BE49-F238E27FC236}">
                <a16:creationId xmlns:a16="http://schemas.microsoft.com/office/drawing/2014/main" id="{F098F386-77E4-6925-9EB5-874FEF32CA64}"/>
              </a:ext>
            </a:extLst>
          </p:cNvPr>
          <p:cNvSpPr/>
          <p:nvPr/>
        </p:nvSpPr>
        <p:spPr>
          <a:xfrm>
            <a:off x="3683000" y="2794000"/>
            <a:ext cx="2286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DOWNLOAD</a:t>
            </a:r>
          </a:p>
        </p:txBody>
      </p:sp>
      <p:sp>
        <p:nvSpPr>
          <p:cNvPr id="6" name="TextBox 5">
            <a:extLst>
              <a:ext uri="{FF2B5EF4-FFF2-40B4-BE49-F238E27FC236}">
                <a16:creationId xmlns:a16="http://schemas.microsoft.com/office/drawing/2014/main" id="{B9D1F38B-1FA8-1C19-EE97-69930860BEA6}"/>
              </a:ext>
            </a:extLst>
          </p:cNvPr>
          <p:cNvSpPr txBox="1"/>
          <p:nvPr/>
        </p:nvSpPr>
        <p:spPr>
          <a:xfrm>
            <a:off x="6096000" y="2921000"/>
            <a:ext cx="508000" cy="1200329"/>
          </a:xfrm>
          <a:prstGeom prst="rect">
            <a:avLst/>
          </a:prstGeom>
          <a:noFill/>
        </p:spPr>
        <p:txBody>
          <a:bodyPr vert="horz" wrap="square" rtlCol="0">
            <a:spAutoFit/>
          </a:bodyPr>
          <a:lstStyle/>
          <a:p>
            <a:pPr algn="ctr"/>
            <a:r>
              <a:rPr lang="en-US" sz="3600" b="1">
                <a:solidFill>
                  <a:srgbClr val="CBC0FF"/>
                </a:solidFill>
              </a:rPr>
              <a:t>--&gt;</a:t>
            </a:r>
          </a:p>
        </p:txBody>
      </p:sp>
      <p:sp>
        <p:nvSpPr>
          <p:cNvPr id="7" name="Rectangle 6">
            <a:extLst>
              <a:ext uri="{FF2B5EF4-FFF2-40B4-BE49-F238E27FC236}">
                <a16:creationId xmlns:a16="http://schemas.microsoft.com/office/drawing/2014/main" id="{1A0D30C3-B0EA-F4AD-33E6-12D2DEEDACCD}"/>
              </a:ext>
            </a:extLst>
          </p:cNvPr>
          <p:cNvSpPr/>
          <p:nvPr/>
        </p:nvSpPr>
        <p:spPr>
          <a:xfrm>
            <a:off x="6731000" y="2794000"/>
            <a:ext cx="2286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INSTALL</a:t>
            </a:r>
          </a:p>
        </p:txBody>
      </p:sp>
      <p:sp>
        <p:nvSpPr>
          <p:cNvPr id="8" name="TextBox 7">
            <a:extLst>
              <a:ext uri="{FF2B5EF4-FFF2-40B4-BE49-F238E27FC236}">
                <a16:creationId xmlns:a16="http://schemas.microsoft.com/office/drawing/2014/main" id="{D96FAF94-1090-6C70-FEB1-91056FA79F8F}"/>
              </a:ext>
            </a:extLst>
          </p:cNvPr>
          <p:cNvSpPr txBox="1"/>
          <p:nvPr/>
        </p:nvSpPr>
        <p:spPr>
          <a:xfrm>
            <a:off x="9144000" y="2921000"/>
            <a:ext cx="508000" cy="1200329"/>
          </a:xfrm>
          <a:prstGeom prst="rect">
            <a:avLst/>
          </a:prstGeom>
          <a:noFill/>
        </p:spPr>
        <p:txBody>
          <a:bodyPr vert="horz" wrap="square" rtlCol="0">
            <a:spAutoFit/>
          </a:bodyPr>
          <a:lstStyle/>
          <a:p>
            <a:pPr algn="ctr"/>
            <a:r>
              <a:rPr lang="en-US" sz="3600" b="1">
                <a:solidFill>
                  <a:srgbClr val="CBC0FF"/>
                </a:solidFill>
              </a:rPr>
              <a:t>--&gt;</a:t>
            </a:r>
          </a:p>
        </p:txBody>
      </p:sp>
      <p:sp>
        <p:nvSpPr>
          <p:cNvPr id="9" name="Rectangle 8">
            <a:extLst>
              <a:ext uri="{FF2B5EF4-FFF2-40B4-BE49-F238E27FC236}">
                <a16:creationId xmlns:a16="http://schemas.microsoft.com/office/drawing/2014/main" id="{A8A10598-22E8-E9E8-C26D-8FAE1DEFA070}"/>
              </a:ext>
            </a:extLst>
          </p:cNvPr>
          <p:cNvSpPr/>
          <p:nvPr/>
        </p:nvSpPr>
        <p:spPr>
          <a:xfrm>
            <a:off x="9779000" y="2794000"/>
            <a:ext cx="1778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VERIFY</a:t>
            </a:r>
          </a:p>
        </p:txBody>
      </p:sp>
      <p:sp>
        <p:nvSpPr>
          <p:cNvPr id="10" name="TextBox 9">
            <a:extLst>
              <a:ext uri="{FF2B5EF4-FFF2-40B4-BE49-F238E27FC236}">
                <a16:creationId xmlns:a16="http://schemas.microsoft.com/office/drawing/2014/main" id="{4597D47A-C57D-E294-3901-7E5CD3A347D6}"/>
              </a:ext>
            </a:extLst>
          </p:cNvPr>
          <p:cNvSpPr txBox="1"/>
          <p:nvPr/>
        </p:nvSpPr>
        <p:spPr>
          <a:xfrm>
            <a:off x="635000" y="4191000"/>
            <a:ext cx="10922000" cy="1323439"/>
          </a:xfrm>
          <a:prstGeom prst="rect">
            <a:avLst/>
          </a:prstGeom>
          <a:noFill/>
        </p:spPr>
        <p:txBody>
          <a:bodyPr vert="horz" wrap="square" rtlCol="0">
            <a:spAutoFit/>
          </a:bodyPr>
          <a:lstStyle/>
          <a:p>
            <a:r>
              <a:rPr lang="en-US" sz="1600">
                <a:solidFill>
                  <a:srgbClr val="CCCCCC"/>
                </a:solidFill>
              </a:rPr>
              <a:t>Automated Windows Update orchestration
Critical patch prioritization
Background download and install
Reboot requirement detection
Maintenance window support</a:t>
            </a:r>
          </a:p>
        </p:txBody>
      </p:sp>
    </p:spTree>
    <p:extLst>
      <p:ext uri="{BB962C8B-B14F-4D97-AF65-F5344CB8AC3E}">
        <p14:creationId xmlns:p14="http://schemas.microsoft.com/office/powerpoint/2010/main" val="1396966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426524-F0B3-E0FC-A48A-707F191252A4}"/>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BULK PROVISIONING</a:t>
            </a:r>
          </a:p>
        </p:txBody>
      </p:sp>
      <p:sp>
        <p:nvSpPr>
          <p:cNvPr id="3" name="Rectangle 2">
            <a:extLst>
              <a:ext uri="{FF2B5EF4-FFF2-40B4-BE49-F238E27FC236}">
                <a16:creationId xmlns:a16="http://schemas.microsoft.com/office/drawing/2014/main" id="{B9FF10B8-A5B7-C956-168A-5099BC0A945B}"/>
              </a:ext>
            </a:extLst>
          </p:cNvPr>
          <p:cNvSpPr/>
          <p:nvPr/>
        </p:nvSpPr>
        <p:spPr>
          <a:xfrm>
            <a:off x="635000" y="2794000"/>
            <a:ext cx="2540000" cy="1270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CSV IMPORT - Device Inventory</a:t>
            </a:r>
          </a:p>
        </p:txBody>
      </p:sp>
      <p:sp>
        <p:nvSpPr>
          <p:cNvPr id="4" name="TextBox 3">
            <a:extLst>
              <a:ext uri="{FF2B5EF4-FFF2-40B4-BE49-F238E27FC236}">
                <a16:creationId xmlns:a16="http://schemas.microsoft.com/office/drawing/2014/main" id="{0D359507-05E6-3F2C-C464-B16F6A504535}"/>
              </a:ext>
            </a:extLst>
          </p:cNvPr>
          <p:cNvSpPr txBox="1"/>
          <p:nvPr/>
        </p:nvSpPr>
        <p:spPr>
          <a:xfrm>
            <a:off x="3302000" y="3048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5" name="Rectangle 4">
            <a:extLst>
              <a:ext uri="{FF2B5EF4-FFF2-40B4-BE49-F238E27FC236}">
                <a16:creationId xmlns:a16="http://schemas.microsoft.com/office/drawing/2014/main" id="{7ED9421D-9FCF-E82A-8B2F-33771EE7A330}"/>
              </a:ext>
            </a:extLst>
          </p:cNvPr>
          <p:cNvSpPr/>
          <p:nvPr/>
        </p:nvSpPr>
        <p:spPr>
          <a:xfrm>
            <a:off x="3937000" y="2794000"/>
            <a:ext cx="2540000" cy="1270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GROUP ASSIGNMENT - Policy Application</a:t>
            </a:r>
          </a:p>
        </p:txBody>
      </p:sp>
      <p:sp>
        <p:nvSpPr>
          <p:cNvPr id="6" name="TextBox 5">
            <a:extLst>
              <a:ext uri="{FF2B5EF4-FFF2-40B4-BE49-F238E27FC236}">
                <a16:creationId xmlns:a16="http://schemas.microsoft.com/office/drawing/2014/main" id="{04C0A435-93C7-0AD4-C3A0-49C9250010D3}"/>
              </a:ext>
            </a:extLst>
          </p:cNvPr>
          <p:cNvSpPr txBox="1"/>
          <p:nvPr/>
        </p:nvSpPr>
        <p:spPr>
          <a:xfrm>
            <a:off x="6604000" y="3048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7" name="Rectangle 6">
            <a:extLst>
              <a:ext uri="{FF2B5EF4-FFF2-40B4-BE49-F238E27FC236}">
                <a16:creationId xmlns:a16="http://schemas.microsoft.com/office/drawing/2014/main" id="{ED6F35AB-7E45-9D1B-BB2F-57C02B9658BE}"/>
              </a:ext>
            </a:extLst>
          </p:cNvPr>
          <p:cNvSpPr/>
          <p:nvPr/>
        </p:nvSpPr>
        <p:spPr>
          <a:xfrm>
            <a:off x="7239000" y="2794000"/>
            <a:ext cx="2540000" cy="1270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APP DEPLOYMENT - Welcome Messages</a:t>
            </a:r>
          </a:p>
        </p:txBody>
      </p:sp>
      <p:sp>
        <p:nvSpPr>
          <p:cNvPr id="8" name="TextBox 7">
            <a:extLst>
              <a:ext uri="{FF2B5EF4-FFF2-40B4-BE49-F238E27FC236}">
                <a16:creationId xmlns:a16="http://schemas.microsoft.com/office/drawing/2014/main" id="{14F8B6EB-7047-5A37-8390-8F8FC3F30B2D}"/>
              </a:ext>
            </a:extLst>
          </p:cNvPr>
          <p:cNvSpPr txBox="1"/>
          <p:nvPr/>
        </p:nvSpPr>
        <p:spPr>
          <a:xfrm>
            <a:off x="635000" y="4445000"/>
            <a:ext cx="10922000" cy="1077218"/>
          </a:xfrm>
          <a:prstGeom prst="rect">
            <a:avLst/>
          </a:prstGeom>
          <a:noFill/>
        </p:spPr>
        <p:txBody>
          <a:bodyPr vert="horz" wrap="square" rtlCol="0">
            <a:spAutoFit/>
          </a:bodyPr>
          <a:lstStyle/>
          <a:p>
            <a:r>
              <a:rPr lang="en-US" sz="1600">
                <a:solidFill>
                  <a:srgbClr val="CCCCCC"/>
                </a:solidFill>
              </a:rPr>
              <a:t>CSV-based device inventory import
Automatic device group assignment
Policy application by location/department
Scalable from 10 to 10,000+ devices</a:t>
            </a:r>
          </a:p>
        </p:txBody>
      </p:sp>
    </p:spTree>
    <p:extLst>
      <p:ext uri="{BB962C8B-B14F-4D97-AF65-F5344CB8AC3E}">
        <p14:creationId xmlns:p14="http://schemas.microsoft.com/office/powerpoint/2010/main" val="582498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97156-A0A3-E748-2FE9-88309DCF5CE2}"/>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FEATURE: SIEM INTEGRATION</a:t>
            </a:r>
          </a:p>
        </p:txBody>
      </p:sp>
      <p:pic>
        <p:nvPicPr>
          <p:cNvPr id="4" name="Picture 3">
            <a:extLst>
              <a:ext uri="{FF2B5EF4-FFF2-40B4-BE49-F238E27FC236}">
                <a16:creationId xmlns:a16="http://schemas.microsoft.com/office/drawing/2014/main" id="{3E3B7CDB-8C0A-CB3D-70D3-9F5E2377AC6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905000" y="1524000"/>
            <a:ext cx="1905000" cy="1905000"/>
          </a:xfrm>
          <a:prstGeom prst="rect">
            <a:avLst/>
          </a:prstGeom>
        </p:spPr>
      </p:pic>
      <p:pic>
        <p:nvPicPr>
          <p:cNvPr id="6" name="Picture 5">
            <a:extLst>
              <a:ext uri="{FF2B5EF4-FFF2-40B4-BE49-F238E27FC236}">
                <a16:creationId xmlns:a16="http://schemas.microsoft.com/office/drawing/2014/main" id="{C670C3A3-9E74-D1C3-E81B-E69B493DEA9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524000"/>
            <a:ext cx="1905000" cy="1905000"/>
          </a:xfrm>
          <a:prstGeom prst="rect">
            <a:avLst/>
          </a:prstGeom>
        </p:spPr>
      </p:pic>
      <p:sp>
        <p:nvSpPr>
          <p:cNvPr id="7" name="Rectangle 6">
            <a:extLst>
              <a:ext uri="{FF2B5EF4-FFF2-40B4-BE49-F238E27FC236}">
                <a16:creationId xmlns:a16="http://schemas.microsoft.com/office/drawing/2014/main" id="{1A071C81-773F-4F6A-278C-00D84FA17BD0}"/>
              </a:ext>
            </a:extLst>
          </p:cNvPr>
          <p:cNvSpPr/>
          <p:nvPr/>
        </p:nvSpPr>
        <p:spPr>
          <a:xfrm>
            <a:off x="635000" y="3810000"/>
            <a:ext cx="3556000" cy="762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FFFF"/>
                </a:solidFill>
              </a:rPr>
              <a:t>CRITICAL: Wipe Device</a:t>
            </a:r>
          </a:p>
        </p:txBody>
      </p:sp>
      <p:sp>
        <p:nvSpPr>
          <p:cNvPr id="8" name="Rectangle 7">
            <a:extLst>
              <a:ext uri="{FF2B5EF4-FFF2-40B4-BE49-F238E27FC236}">
                <a16:creationId xmlns:a16="http://schemas.microsoft.com/office/drawing/2014/main" id="{5F07721F-840D-7AAC-EB91-8352F1F6FBB9}"/>
              </a:ext>
            </a:extLst>
          </p:cNvPr>
          <p:cNvSpPr/>
          <p:nvPr/>
        </p:nvSpPr>
        <p:spPr>
          <a:xfrm>
            <a:off x="4318000" y="3810000"/>
            <a:ext cx="3556000" cy="762000"/>
          </a:xfrm>
          <a:prstGeom prst="rect">
            <a:avLst/>
          </a:prstGeom>
          <a:solidFill>
            <a:srgbClr val="CC00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FFFF"/>
                </a:solidFill>
              </a:rPr>
              <a:t>HIGH: Quarantine</a:t>
            </a:r>
          </a:p>
        </p:txBody>
      </p:sp>
      <p:sp>
        <p:nvSpPr>
          <p:cNvPr id="9" name="Rectangle 8">
            <a:extLst>
              <a:ext uri="{FF2B5EF4-FFF2-40B4-BE49-F238E27FC236}">
                <a16:creationId xmlns:a16="http://schemas.microsoft.com/office/drawing/2014/main" id="{C4706FFC-8907-5DB0-45C0-14E0221A8A52}"/>
              </a:ext>
            </a:extLst>
          </p:cNvPr>
          <p:cNvSpPr/>
          <p:nvPr/>
        </p:nvSpPr>
        <p:spPr>
          <a:xfrm>
            <a:off x="8001000" y="3810000"/>
            <a:ext cx="3556000" cy="762000"/>
          </a:xfrm>
          <a:prstGeom prst="rect">
            <a:avLst/>
          </a:prstGeom>
          <a:solidFill>
            <a:srgbClr val="00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MEDIUM: Remediate</a:t>
            </a:r>
          </a:p>
        </p:txBody>
      </p:sp>
      <p:sp>
        <p:nvSpPr>
          <p:cNvPr id="10" name="TextBox 9">
            <a:extLst>
              <a:ext uri="{FF2B5EF4-FFF2-40B4-BE49-F238E27FC236}">
                <a16:creationId xmlns:a16="http://schemas.microsoft.com/office/drawing/2014/main" id="{A623A966-2D1E-763A-56BD-34989A82FA1E}"/>
              </a:ext>
            </a:extLst>
          </p:cNvPr>
          <p:cNvSpPr txBox="1"/>
          <p:nvPr/>
        </p:nvSpPr>
        <p:spPr>
          <a:xfrm>
            <a:off x="635000" y="4953000"/>
            <a:ext cx="10922000" cy="1077218"/>
          </a:xfrm>
          <a:prstGeom prst="rect">
            <a:avLst/>
          </a:prstGeom>
          <a:noFill/>
        </p:spPr>
        <p:txBody>
          <a:bodyPr vert="horz" wrap="square" rtlCol="0">
            <a:spAutoFit/>
          </a:bodyPr>
          <a:lstStyle/>
          <a:p>
            <a:r>
              <a:rPr lang="en-US" sz="1600">
                <a:solidFill>
                  <a:srgbClr val="CCCCCC"/>
                </a:solidFill>
              </a:rPr>
              <a:t>Splunk HEC webhook integration
Carbon Black EDR alert handling
CrowdStrike Falcon XDR support
Real-time alert processing</a:t>
            </a:r>
          </a:p>
        </p:txBody>
      </p:sp>
    </p:spTree>
    <p:extLst>
      <p:ext uri="{BB962C8B-B14F-4D97-AF65-F5344CB8AC3E}">
        <p14:creationId xmlns:p14="http://schemas.microsoft.com/office/powerpoint/2010/main" val="397207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1CAC43-B1DD-3981-4EBE-8908306132BA}"/>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FFFFFF"/>
                </a:solidFill>
              </a:rPr>
              <a:t>SECURITY BENEFITS</a:t>
            </a:r>
          </a:p>
        </p:txBody>
      </p:sp>
      <p:sp>
        <p:nvSpPr>
          <p:cNvPr id="3" name="Rectangle 2">
            <a:extLst>
              <a:ext uri="{FF2B5EF4-FFF2-40B4-BE49-F238E27FC236}">
                <a16:creationId xmlns:a16="http://schemas.microsoft.com/office/drawing/2014/main" id="{DDE695D5-6184-6096-489B-FD7AE9B39B96}"/>
              </a:ext>
            </a:extLst>
          </p:cNvPr>
          <p:cNvSpPr/>
          <p:nvPr/>
        </p:nvSpPr>
        <p:spPr>
          <a:xfrm>
            <a:off x="635000" y="1524000"/>
            <a:ext cx="3556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CBC0FF"/>
                </a:solidFill>
              </a:rPr>
              <a:t>ZERO TRUST - Never Trust, Always Verify, Least Privilege</a:t>
            </a:r>
          </a:p>
        </p:txBody>
      </p:sp>
      <p:sp>
        <p:nvSpPr>
          <p:cNvPr id="4" name="Rectangle 3">
            <a:extLst>
              <a:ext uri="{FF2B5EF4-FFF2-40B4-BE49-F238E27FC236}">
                <a16:creationId xmlns:a16="http://schemas.microsoft.com/office/drawing/2014/main" id="{BC595FC4-E9D9-8932-B13E-DC2BE83F2720}"/>
              </a:ext>
            </a:extLst>
          </p:cNvPr>
          <p:cNvSpPr/>
          <p:nvPr/>
        </p:nvSpPr>
        <p:spPr>
          <a:xfrm>
            <a:off x="4318000" y="1524000"/>
            <a:ext cx="3556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8888"/>
                </a:solidFill>
              </a:rPr>
              <a:t>REAL-TIME - 24/7 Monitoring, Threat Detection, Compliance Checks</a:t>
            </a:r>
          </a:p>
        </p:txBody>
      </p:sp>
      <p:sp>
        <p:nvSpPr>
          <p:cNvPr id="5" name="Rectangle 4">
            <a:extLst>
              <a:ext uri="{FF2B5EF4-FFF2-40B4-BE49-F238E27FC236}">
                <a16:creationId xmlns:a16="http://schemas.microsoft.com/office/drawing/2014/main" id="{78EF217A-1D27-2F6C-914E-CD89038EA78D}"/>
              </a:ext>
            </a:extLst>
          </p:cNvPr>
          <p:cNvSpPr/>
          <p:nvPr/>
        </p:nvSpPr>
        <p:spPr>
          <a:xfrm>
            <a:off x="8001000" y="1524000"/>
            <a:ext cx="3556000" cy="1905000"/>
          </a:xfrm>
          <a:prstGeom prst="rect">
            <a:avLst/>
          </a:prstGeom>
          <a:solidFill>
            <a:srgbClr val="222E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CBC0FF"/>
                </a:solidFill>
              </a:rPr>
              <a:t>AUTOMATED - Less than 5 Min Response, Auto-Fix Issues, Self-Healing</a:t>
            </a:r>
          </a:p>
        </p:txBody>
      </p:sp>
      <p:sp>
        <p:nvSpPr>
          <p:cNvPr id="6" name="Rectangle 5">
            <a:extLst>
              <a:ext uri="{FF2B5EF4-FFF2-40B4-BE49-F238E27FC236}">
                <a16:creationId xmlns:a16="http://schemas.microsoft.com/office/drawing/2014/main" id="{5FCB80F8-BACF-F56B-8E8E-06A87AB990A7}"/>
              </a:ext>
            </a:extLst>
          </p:cNvPr>
          <p:cNvSpPr/>
          <p:nvPr/>
        </p:nvSpPr>
        <p:spPr>
          <a:xfrm>
            <a:off x="1270000" y="4064000"/>
            <a:ext cx="2540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85% Faster Response</a:t>
            </a:r>
          </a:p>
        </p:txBody>
      </p:sp>
      <p:sp>
        <p:nvSpPr>
          <p:cNvPr id="7" name="Rectangle 6">
            <a:extLst>
              <a:ext uri="{FF2B5EF4-FFF2-40B4-BE49-F238E27FC236}">
                <a16:creationId xmlns:a16="http://schemas.microsoft.com/office/drawing/2014/main" id="{55D92C53-F6AE-11F1-11D5-BD9EC4182617}"/>
              </a:ext>
            </a:extLst>
          </p:cNvPr>
          <p:cNvSpPr/>
          <p:nvPr/>
        </p:nvSpPr>
        <p:spPr>
          <a:xfrm>
            <a:off x="4826000" y="4064000"/>
            <a:ext cx="2540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99.9% Uptime</a:t>
            </a:r>
          </a:p>
        </p:txBody>
      </p:sp>
      <p:sp>
        <p:nvSpPr>
          <p:cNvPr id="8" name="Rectangle 7">
            <a:extLst>
              <a:ext uri="{FF2B5EF4-FFF2-40B4-BE49-F238E27FC236}">
                <a16:creationId xmlns:a16="http://schemas.microsoft.com/office/drawing/2014/main" id="{8C33E634-10AD-01E6-2DE1-F4B96640990A}"/>
              </a:ext>
            </a:extLst>
          </p:cNvPr>
          <p:cNvSpPr/>
          <p:nvPr/>
        </p:nvSpPr>
        <p:spPr>
          <a:xfrm>
            <a:off x="8382000" y="4064000"/>
            <a:ext cx="2540000" cy="1270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100% Compliance</a:t>
            </a:r>
          </a:p>
        </p:txBody>
      </p:sp>
    </p:spTree>
    <p:extLst>
      <p:ext uri="{BB962C8B-B14F-4D97-AF65-F5344CB8AC3E}">
        <p14:creationId xmlns:p14="http://schemas.microsoft.com/office/powerpoint/2010/main" val="316427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062B17-ADED-7420-EC59-2E5FDF97FCCB}"/>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ROI &amp; VALUE PROPOSITION</a:t>
            </a:r>
          </a:p>
        </p:txBody>
      </p:sp>
      <p:sp>
        <p:nvSpPr>
          <p:cNvPr id="3" name="Rectangle 2">
            <a:extLst>
              <a:ext uri="{FF2B5EF4-FFF2-40B4-BE49-F238E27FC236}">
                <a16:creationId xmlns:a16="http://schemas.microsoft.com/office/drawing/2014/main" id="{0C4BD641-F206-03ED-7E8A-25105268141D}"/>
              </a:ext>
            </a:extLst>
          </p:cNvPr>
          <p:cNvSpPr/>
          <p:nvPr/>
        </p:nvSpPr>
        <p:spPr>
          <a:xfrm>
            <a:off x="635000" y="1524000"/>
            <a:ext cx="3556000" cy="1905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60% Fewer Security Incidents</a:t>
            </a:r>
          </a:p>
        </p:txBody>
      </p:sp>
      <p:sp>
        <p:nvSpPr>
          <p:cNvPr id="4" name="Rectangle 3">
            <a:extLst>
              <a:ext uri="{FF2B5EF4-FFF2-40B4-BE49-F238E27FC236}">
                <a16:creationId xmlns:a16="http://schemas.microsoft.com/office/drawing/2014/main" id="{E4E1849B-DC90-DC08-FEC5-4E74618C4146}"/>
              </a:ext>
            </a:extLst>
          </p:cNvPr>
          <p:cNvSpPr/>
          <p:nvPr/>
        </p:nvSpPr>
        <p:spPr>
          <a:xfrm>
            <a:off x="4318000" y="1524000"/>
            <a:ext cx="3556000" cy="1905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40% IT Workload Reduction</a:t>
            </a:r>
          </a:p>
        </p:txBody>
      </p:sp>
      <p:sp>
        <p:nvSpPr>
          <p:cNvPr id="5" name="Rectangle 4">
            <a:extLst>
              <a:ext uri="{FF2B5EF4-FFF2-40B4-BE49-F238E27FC236}">
                <a16:creationId xmlns:a16="http://schemas.microsoft.com/office/drawing/2014/main" id="{EB435D4E-0492-CA39-C26E-D65E4CB2CC53}"/>
              </a:ext>
            </a:extLst>
          </p:cNvPr>
          <p:cNvSpPr/>
          <p:nvPr/>
        </p:nvSpPr>
        <p:spPr>
          <a:xfrm>
            <a:off x="8001000" y="1524000"/>
            <a:ext cx="3556000" cy="1905000"/>
          </a:xfrm>
          <a:prstGeom prst="rect">
            <a:avLst/>
          </a:prstGeom>
          <a:solidFill>
            <a:srgbClr val="FFFF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FFFFF"/>
                </a:solidFill>
              </a:rPr>
              <a:t>85% Faster Threat Response</a:t>
            </a:r>
          </a:p>
        </p:txBody>
      </p:sp>
      <p:sp>
        <p:nvSpPr>
          <p:cNvPr id="6" name="TextBox 5">
            <a:extLst>
              <a:ext uri="{FF2B5EF4-FFF2-40B4-BE49-F238E27FC236}">
                <a16:creationId xmlns:a16="http://schemas.microsoft.com/office/drawing/2014/main" id="{E919070F-FF15-81B9-7E16-9FB2FD5FD6BA}"/>
              </a:ext>
            </a:extLst>
          </p:cNvPr>
          <p:cNvSpPr txBox="1"/>
          <p:nvPr/>
        </p:nvSpPr>
        <p:spPr>
          <a:xfrm>
            <a:off x="635000" y="3810000"/>
            <a:ext cx="10922000" cy="1077218"/>
          </a:xfrm>
          <a:prstGeom prst="rect">
            <a:avLst/>
          </a:prstGeom>
          <a:noFill/>
        </p:spPr>
        <p:txBody>
          <a:bodyPr vert="horz" wrap="square" rtlCol="0">
            <a:spAutoFit/>
          </a:bodyPr>
          <a:lstStyle/>
          <a:p>
            <a:r>
              <a:rPr lang="en-US" sz="1600">
                <a:solidFill>
                  <a:srgbClr val="CCCCCC"/>
                </a:solidFill>
              </a:rPr>
              <a:t>Reduced mean time to detect (MTTD) from days to minutes
Reduced mean time to respond (MTTR) from hours to seconds
Lower compliance audit costs with automated reporting
Improved security posture with continuous monitoring</a:t>
            </a:r>
          </a:p>
        </p:txBody>
      </p:sp>
    </p:spTree>
    <p:extLst>
      <p:ext uri="{BB962C8B-B14F-4D97-AF65-F5344CB8AC3E}">
        <p14:creationId xmlns:p14="http://schemas.microsoft.com/office/powerpoint/2010/main" val="212524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29F179-0D40-394C-1ACB-04ABE2F6136B}"/>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IMPLEMENTATION ROADMAP</a:t>
            </a:r>
          </a:p>
        </p:txBody>
      </p:sp>
      <p:sp>
        <p:nvSpPr>
          <p:cNvPr id="3" name="Rectangle 2">
            <a:extLst>
              <a:ext uri="{FF2B5EF4-FFF2-40B4-BE49-F238E27FC236}">
                <a16:creationId xmlns:a16="http://schemas.microsoft.com/office/drawing/2014/main" id="{7727BED5-E1B4-2F34-3019-CED769CCCCA3}"/>
              </a:ext>
            </a:extLst>
          </p:cNvPr>
          <p:cNvSpPr/>
          <p:nvPr/>
        </p:nvSpPr>
        <p:spPr>
          <a:xfrm>
            <a:off x="635000" y="1524000"/>
            <a:ext cx="2540000" cy="1524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22E2E"/>
                </a:solidFill>
              </a:rPr>
              <a:t>PHASE 1 - Week 1-2 - Setup and Config</a:t>
            </a:r>
          </a:p>
        </p:txBody>
      </p:sp>
      <p:sp>
        <p:nvSpPr>
          <p:cNvPr id="4" name="TextBox 3">
            <a:extLst>
              <a:ext uri="{FF2B5EF4-FFF2-40B4-BE49-F238E27FC236}">
                <a16:creationId xmlns:a16="http://schemas.microsoft.com/office/drawing/2014/main" id="{2B4D6EAF-70A0-461C-43FA-2AC63E3D4C75}"/>
              </a:ext>
            </a:extLst>
          </p:cNvPr>
          <p:cNvSpPr txBox="1"/>
          <p:nvPr/>
        </p:nvSpPr>
        <p:spPr>
          <a:xfrm>
            <a:off x="3302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5" name="Rectangle 4">
            <a:extLst>
              <a:ext uri="{FF2B5EF4-FFF2-40B4-BE49-F238E27FC236}">
                <a16:creationId xmlns:a16="http://schemas.microsoft.com/office/drawing/2014/main" id="{09FF32FB-B06B-C2C9-5B29-2C5E1BAC0908}"/>
              </a:ext>
            </a:extLst>
          </p:cNvPr>
          <p:cNvSpPr/>
          <p:nvPr/>
        </p:nvSpPr>
        <p:spPr>
          <a:xfrm>
            <a:off x="3937000" y="1524000"/>
            <a:ext cx="2540000" cy="1524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22E2E"/>
                </a:solidFill>
              </a:rPr>
              <a:t>PHASE 2 - Week 3-4 - Script Deploy</a:t>
            </a:r>
          </a:p>
        </p:txBody>
      </p:sp>
      <p:sp>
        <p:nvSpPr>
          <p:cNvPr id="6" name="TextBox 5">
            <a:extLst>
              <a:ext uri="{FF2B5EF4-FFF2-40B4-BE49-F238E27FC236}">
                <a16:creationId xmlns:a16="http://schemas.microsoft.com/office/drawing/2014/main" id="{2F689794-325A-9F29-F9F0-6D0C679C321F}"/>
              </a:ext>
            </a:extLst>
          </p:cNvPr>
          <p:cNvSpPr txBox="1"/>
          <p:nvPr/>
        </p:nvSpPr>
        <p:spPr>
          <a:xfrm>
            <a:off x="6604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7" name="Rectangle 6">
            <a:extLst>
              <a:ext uri="{FF2B5EF4-FFF2-40B4-BE49-F238E27FC236}">
                <a16:creationId xmlns:a16="http://schemas.microsoft.com/office/drawing/2014/main" id="{A250EF27-6861-8B11-B0F7-13C97A7EBE6B}"/>
              </a:ext>
            </a:extLst>
          </p:cNvPr>
          <p:cNvSpPr/>
          <p:nvPr/>
        </p:nvSpPr>
        <p:spPr>
          <a:xfrm>
            <a:off x="7239000" y="1524000"/>
            <a:ext cx="2540000" cy="1524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rgbClr val="222E2E"/>
                </a:solidFill>
              </a:rPr>
              <a:t>PHASE 3 - Week 5-6 - Automation</a:t>
            </a:r>
          </a:p>
        </p:txBody>
      </p:sp>
      <p:sp>
        <p:nvSpPr>
          <p:cNvPr id="8" name="TextBox 7">
            <a:extLst>
              <a:ext uri="{FF2B5EF4-FFF2-40B4-BE49-F238E27FC236}">
                <a16:creationId xmlns:a16="http://schemas.microsoft.com/office/drawing/2014/main" id="{F892B86B-6A8A-D27B-8157-EE09DA13E6C3}"/>
              </a:ext>
            </a:extLst>
          </p:cNvPr>
          <p:cNvSpPr txBox="1"/>
          <p:nvPr/>
        </p:nvSpPr>
        <p:spPr>
          <a:xfrm>
            <a:off x="9906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9" name="Rectangle 8">
            <a:extLst>
              <a:ext uri="{FF2B5EF4-FFF2-40B4-BE49-F238E27FC236}">
                <a16:creationId xmlns:a16="http://schemas.microsoft.com/office/drawing/2014/main" id="{B8B8AC2C-D71C-35A0-E281-C97A2BAD4E7B}"/>
              </a:ext>
            </a:extLst>
          </p:cNvPr>
          <p:cNvSpPr/>
          <p:nvPr/>
        </p:nvSpPr>
        <p:spPr>
          <a:xfrm>
            <a:off x="10541000" y="1524000"/>
            <a:ext cx="1270000" cy="1524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222E2E"/>
                </a:solidFill>
              </a:rPr>
              <a:t>PHASE 4 - Week 7-8 - SIEM</a:t>
            </a:r>
          </a:p>
        </p:txBody>
      </p:sp>
      <p:sp>
        <p:nvSpPr>
          <p:cNvPr id="10" name="TextBox 9">
            <a:extLst>
              <a:ext uri="{FF2B5EF4-FFF2-40B4-BE49-F238E27FC236}">
                <a16:creationId xmlns:a16="http://schemas.microsoft.com/office/drawing/2014/main" id="{E25A80D1-8CFF-2AF5-3DAB-37A2D475A66C}"/>
              </a:ext>
            </a:extLst>
          </p:cNvPr>
          <p:cNvSpPr txBox="1"/>
          <p:nvPr/>
        </p:nvSpPr>
        <p:spPr>
          <a:xfrm>
            <a:off x="635000" y="3556000"/>
            <a:ext cx="10922000" cy="1323439"/>
          </a:xfrm>
          <a:prstGeom prst="rect">
            <a:avLst/>
          </a:prstGeom>
          <a:noFill/>
        </p:spPr>
        <p:txBody>
          <a:bodyPr vert="horz" wrap="square" rtlCol="0">
            <a:spAutoFit/>
          </a:bodyPr>
          <a:lstStyle/>
          <a:p>
            <a:r>
              <a:rPr lang="en-US" sz="1600">
                <a:solidFill>
                  <a:srgbClr val="CCCCCC"/>
                </a:solidFill>
              </a:rPr>
              <a:t>Phase 1: Configure Hexnode API, create quarantine groups
Phase 2: Upload and test all automation scripts
Phase 3: Create automations with triggers and schedules
Phase 4: Integrate with SIEM and test alert handling
Phase 5: Production deployment and monitoring</a:t>
            </a:r>
          </a:p>
        </p:txBody>
      </p:sp>
    </p:spTree>
    <p:extLst>
      <p:ext uri="{BB962C8B-B14F-4D97-AF65-F5344CB8AC3E}">
        <p14:creationId xmlns:p14="http://schemas.microsoft.com/office/powerpoint/2010/main" val="3867253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5508E-DC02-DE41-4577-151B504C80E6}"/>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QUICK START GUIDE</a:t>
            </a:r>
          </a:p>
        </p:txBody>
      </p:sp>
      <p:sp>
        <p:nvSpPr>
          <p:cNvPr id="3" name="Rectangle 2">
            <a:extLst>
              <a:ext uri="{FF2B5EF4-FFF2-40B4-BE49-F238E27FC236}">
                <a16:creationId xmlns:a16="http://schemas.microsoft.com/office/drawing/2014/main" id="{9998BBA1-45E0-3035-3183-B9A2A0AD47A6}"/>
              </a:ext>
            </a:extLst>
          </p:cNvPr>
          <p:cNvSpPr/>
          <p:nvPr/>
        </p:nvSpPr>
        <p:spPr>
          <a:xfrm>
            <a:off x="635000" y="1524000"/>
            <a:ext cx="2540000" cy="1524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STEP 1 - Configure API</a:t>
            </a:r>
          </a:p>
        </p:txBody>
      </p:sp>
      <p:sp>
        <p:nvSpPr>
          <p:cNvPr id="4" name="TextBox 3">
            <a:extLst>
              <a:ext uri="{FF2B5EF4-FFF2-40B4-BE49-F238E27FC236}">
                <a16:creationId xmlns:a16="http://schemas.microsoft.com/office/drawing/2014/main" id="{A3963859-7949-E39C-DFA9-DA6F4920675C}"/>
              </a:ext>
            </a:extLst>
          </p:cNvPr>
          <p:cNvSpPr txBox="1"/>
          <p:nvPr/>
        </p:nvSpPr>
        <p:spPr>
          <a:xfrm>
            <a:off x="3302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5" name="Rectangle 4">
            <a:extLst>
              <a:ext uri="{FF2B5EF4-FFF2-40B4-BE49-F238E27FC236}">
                <a16:creationId xmlns:a16="http://schemas.microsoft.com/office/drawing/2014/main" id="{273046CC-8CAB-9676-A9A0-9C6584F1A878}"/>
              </a:ext>
            </a:extLst>
          </p:cNvPr>
          <p:cNvSpPr/>
          <p:nvPr/>
        </p:nvSpPr>
        <p:spPr>
          <a:xfrm>
            <a:off x="3937000" y="1524000"/>
            <a:ext cx="2540000" cy="1524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STEP 2 - Upload Scripts</a:t>
            </a:r>
          </a:p>
        </p:txBody>
      </p:sp>
      <p:sp>
        <p:nvSpPr>
          <p:cNvPr id="6" name="TextBox 5">
            <a:extLst>
              <a:ext uri="{FF2B5EF4-FFF2-40B4-BE49-F238E27FC236}">
                <a16:creationId xmlns:a16="http://schemas.microsoft.com/office/drawing/2014/main" id="{770588FA-B0E9-2054-F257-F856D75A7670}"/>
              </a:ext>
            </a:extLst>
          </p:cNvPr>
          <p:cNvSpPr txBox="1"/>
          <p:nvPr/>
        </p:nvSpPr>
        <p:spPr>
          <a:xfrm>
            <a:off x="6604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7" name="Rectangle 6">
            <a:extLst>
              <a:ext uri="{FF2B5EF4-FFF2-40B4-BE49-F238E27FC236}">
                <a16:creationId xmlns:a16="http://schemas.microsoft.com/office/drawing/2014/main" id="{C4DD7E7B-6A92-570C-DB6F-1B79DF94DCDE}"/>
              </a:ext>
            </a:extLst>
          </p:cNvPr>
          <p:cNvSpPr/>
          <p:nvPr/>
        </p:nvSpPr>
        <p:spPr>
          <a:xfrm>
            <a:off x="7239000" y="1524000"/>
            <a:ext cx="2540000" cy="1524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222E2E"/>
                </a:solidFill>
              </a:rPr>
              <a:t>STEP 3 - Create Automation</a:t>
            </a:r>
          </a:p>
        </p:txBody>
      </p:sp>
      <p:sp>
        <p:nvSpPr>
          <p:cNvPr id="8" name="TextBox 7">
            <a:extLst>
              <a:ext uri="{FF2B5EF4-FFF2-40B4-BE49-F238E27FC236}">
                <a16:creationId xmlns:a16="http://schemas.microsoft.com/office/drawing/2014/main" id="{EBDE6C46-E3EC-C1B2-F91F-657E4C1BBE5B}"/>
              </a:ext>
            </a:extLst>
          </p:cNvPr>
          <p:cNvSpPr txBox="1"/>
          <p:nvPr/>
        </p:nvSpPr>
        <p:spPr>
          <a:xfrm>
            <a:off x="9906000" y="1905000"/>
            <a:ext cx="508000" cy="1200329"/>
          </a:xfrm>
          <a:prstGeom prst="rect">
            <a:avLst/>
          </a:prstGeom>
          <a:noFill/>
        </p:spPr>
        <p:txBody>
          <a:bodyPr vert="horz" wrap="square" rtlCol="0">
            <a:spAutoFit/>
          </a:bodyPr>
          <a:lstStyle/>
          <a:p>
            <a:pPr algn="ctr"/>
            <a:r>
              <a:rPr lang="en-US" sz="3600" b="1">
                <a:solidFill>
                  <a:srgbClr val="FF8888"/>
                </a:solidFill>
              </a:rPr>
              <a:t>--&gt;</a:t>
            </a:r>
          </a:p>
        </p:txBody>
      </p:sp>
      <p:sp>
        <p:nvSpPr>
          <p:cNvPr id="9" name="Rectangle 8">
            <a:extLst>
              <a:ext uri="{FF2B5EF4-FFF2-40B4-BE49-F238E27FC236}">
                <a16:creationId xmlns:a16="http://schemas.microsoft.com/office/drawing/2014/main" id="{7DD16648-AF01-6EF2-4CB8-5C838789744B}"/>
              </a:ext>
            </a:extLst>
          </p:cNvPr>
          <p:cNvSpPr/>
          <p:nvPr/>
        </p:nvSpPr>
        <p:spPr>
          <a:xfrm>
            <a:off x="10541000" y="1524000"/>
            <a:ext cx="1270000" cy="1524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222E2E"/>
                </a:solidFill>
              </a:rPr>
              <a:t>STEP 4 - Enable</a:t>
            </a:r>
          </a:p>
        </p:txBody>
      </p:sp>
      <p:sp>
        <p:nvSpPr>
          <p:cNvPr id="10" name="TextBox 9">
            <a:extLst>
              <a:ext uri="{FF2B5EF4-FFF2-40B4-BE49-F238E27FC236}">
                <a16:creationId xmlns:a16="http://schemas.microsoft.com/office/drawing/2014/main" id="{ACB3A834-A91B-7459-FD27-F2C82CB7F5DF}"/>
              </a:ext>
            </a:extLst>
          </p:cNvPr>
          <p:cNvSpPr txBox="1"/>
          <p:nvPr/>
        </p:nvSpPr>
        <p:spPr>
          <a:xfrm>
            <a:off x="635000" y="3556000"/>
            <a:ext cx="10922000" cy="1077218"/>
          </a:xfrm>
          <a:prstGeom prst="rect">
            <a:avLst/>
          </a:prstGeom>
          <a:noFill/>
        </p:spPr>
        <p:txBody>
          <a:bodyPr vert="horz" wrap="square" rtlCol="0">
            <a:spAutoFit/>
          </a:bodyPr>
          <a:lstStyle/>
          <a:p>
            <a:r>
              <a:rPr lang="en-US" sz="1600">
                <a:solidFill>
                  <a:srgbClr val="CCCCCC"/>
                </a:solidFill>
              </a:rPr>
              <a:t>Edit hexnode_config.json with your API credentials
Upload .ps1 scripts to Hexnode Custom Scripts
Create automations with time/activity triggers
Enable automations and monitor results</a:t>
            </a:r>
          </a:p>
        </p:txBody>
      </p:sp>
    </p:spTree>
    <p:extLst>
      <p:ext uri="{BB962C8B-B14F-4D97-AF65-F5344CB8AC3E}">
        <p14:creationId xmlns:p14="http://schemas.microsoft.com/office/powerpoint/2010/main" val="1727403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4C88A4-FE2A-B992-F8BC-DFD96673292B}"/>
              </a:ext>
            </a:extLst>
          </p:cNvPr>
          <p:cNvSpPr txBox="1"/>
          <p:nvPr/>
        </p:nvSpPr>
        <p:spPr>
          <a:xfrm>
            <a:off x="635000" y="381000"/>
            <a:ext cx="10922000" cy="707886"/>
          </a:xfrm>
          <a:prstGeom prst="rect">
            <a:avLst/>
          </a:prstGeom>
          <a:noFill/>
        </p:spPr>
        <p:txBody>
          <a:bodyPr vert="horz" wrap="square" rtlCol="0">
            <a:spAutoFit/>
          </a:bodyPr>
          <a:lstStyle/>
          <a:p>
            <a:pPr algn="ctr"/>
            <a:r>
              <a:rPr lang="en-US" sz="4000" b="1">
                <a:solidFill>
                  <a:srgbClr val="CBC0FF"/>
                </a:solidFill>
              </a:rPr>
              <a:t>NEXT STEPS</a:t>
            </a:r>
          </a:p>
        </p:txBody>
      </p:sp>
      <p:sp>
        <p:nvSpPr>
          <p:cNvPr id="3" name="TextBox 2">
            <a:extLst>
              <a:ext uri="{FF2B5EF4-FFF2-40B4-BE49-F238E27FC236}">
                <a16:creationId xmlns:a16="http://schemas.microsoft.com/office/drawing/2014/main" id="{BD90CA2A-7752-9C81-2870-416AFEC2C456}"/>
              </a:ext>
            </a:extLst>
          </p:cNvPr>
          <p:cNvSpPr txBox="1"/>
          <p:nvPr/>
        </p:nvSpPr>
        <p:spPr>
          <a:xfrm>
            <a:off x="635000" y="1524000"/>
            <a:ext cx="10922000" cy="1754326"/>
          </a:xfrm>
          <a:prstGeom prst="rect">
            <a:avLst/>
          </a:prstGeom>
          <a:noFill/>
        </p:spPr>
        <p:txBody>
          <a:bodyPr vert="horz" wrap="square" rtlCol="0">
            <a:spAutoFit/>
          </a:bodyPr>
          <a:lstStyle/>
          <a:p>
            <a:r>
              <a:rPr lang="en-US">
                <a:solidFill>
                  <a:srgbClr val="CCCCCC"/>
                </a:solidFill>
              </a:rPr>
              <a:t>Schedule technical deep-dive demonstration
Identify pilot group for proof of concept
Review Hexnode API documentation
Plan integration with existing SIEM infrastructure
Define compliance requirements and policies
Establish success metrics and KPIs</a:t>
            </a:r>
          </a:p>
        </p:txBody>
      </p:sp>
      <p:sp>
        <p:nvSpPr>
          <p:cNvPr id="4" name="Rectangle 3">
            <a:extLst>
              <a:ext uri="{FF2B5EF4-FFF2-40B4-BE49-F238E27FC236}">
                <a16:creationId xmlns:a16="http://schemas.microsoft.com/office/drawing/2014/main" id="{51278AE5-B369-648C-F688-891210A5555D}"/>
              </a:ext>
            </a:extLst>
          </p:cNvPr>
          <p:cNvSpPr/>
          <p:nvPr/>
        </p:nvSpPr>
        <p:spPr>
          <a:xfrm>
            <a:off x="2540000" y="5080000"/>
            <a:ext cx="7112000" cy="1016000"/>
          </a:xfrm>
          <a:prstGeom prst="rect">
            <a:avLst/>
          </a:prstGeom>
          <a:solidFill>
            <a:srgbClr val="FF888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rgbClr val="222E2E"/>
                </a:solidFill>
              </a:rPr>
              <a:t>Ready to Start? Let us Schedule a Demo!</a:t>
            </a:r>
          </a:p>
        </p:txBody>
      </p:sp>
    </p:spTree>
    <p:extLst>
      <p:ext uri="{BB962C8B-B14F-4D97-AF65-F5344CB8AC3E}">
        <p14:creationId xmlns:p14="http://schemas.microsoft.com/office/powerpoint/2010/main" val="500376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22E2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B60481-D13A-28FF-9A3C-268F5E848039}"/>
              </a:ext>
            </a:extLst>
          </p:cNvPr>
          <p:cNvSpPr txBox="1"/>
          <p:nvPr/>
        </p:nvSpPr>
        <p:spPr>
          <a:xfrm>
            <a:off x="635000" y="1905000"/>
            <a:ext cx="10922000" cy="923330"/>
          </a:xfrm>
          <a:prstGeom prst="rect">
            <a:avLst/>
          </a:prstGeom>
          <a:noFill/>
        </p:spPr>
        <p:txBody>
          <a:bodyPr vert="horz" wrap="square" rtlCol="0">
            <a:spAutoFit/>
          </a:bodyPr>
          <a:lstStyle/>
          <a:p>
            <a:pPr algn="ctr"/>
            <a:r>
              <a:rPr lang="en-US" sz="5400" b="1">
                <a:solidFill>
                  <a:srgbClr val="CBC0FF"/>
                </a:solidFill>
              </a:rPr>
              <a:t>THANK YOU</a:t>
            </a:r>
          </a:p>
        </p:txBody>
      </p:sp>
      <p:sp>
        <p:nvSpPr>
          <p:cNvPr id="3" name="TextBox 2">
            <a:extLst>
              <a:ext uri="{FF2B5EF4-FFF2-40B4-BE49-F238E27FC236}">
                <a16:creationId xmlns:a16="http://schemas.microsoft.com/office/drawing/2014/main" id="{3FEFDA39-D2F4-FEB0-7D59-649EF2A803CB}"/>
              </a:ext>
            </a:extLst>
          </p:cNvPr>
          <p:cNvSpPr txBox="1"/>
          <p:nvPr/>
        </p:nvSpPr>
        <p:spPr>
          <a:xfrm>
            <a:off x="635000" y="3175000"/>
            <a:ext cx="10922000" cy="523220"/>
          </a:xfrm>
          <a:prstGeom prst="rect">
            <a:avLst/>
          </a:prstGeom>
          <a:noFill/>
        </p:spPr>
        <p:txBody>
          <a:bodyPr vert="horz" wrap="square" rtlCol="0">
            <a:spAutoFit/>
          </a:bodyPr>
          <a:lstStyle/>
          <a:p>
            <a:pPr algn="ctr"/>
            <a:r>
              <a:rPr lang="en-US" sz="2800" b="1">
                <a:solidFill>
                  <a:srgbClr val="FF8888"/>
                </a:solidFill>
              </a:rPr>
              <a:t>Questions and Discussion</a:t>
            </a:r>
          </a:p>
        </p:txBody>
      </p:sp>
      <p:sp>
        <p:nvSpPr>
          <p:cNvPr id="4" name="Rectangle 3">
            <a:extLst>
              <a:ext uri="{FF2B5EF4-FFF2-40B4-BE49-F238E27FC236}">
                <a16:creationId xmlns:a16="http://schemas.microsoft.com/office/drawing/2014/main" id="{4C31BD96-22F7-352C-6AFD-12BF7E995BE3}"/>
              </a:ext>
            </a:extLst>
          </p:cNvPr>
          <p:cNvSpPr/>
          <p:nvPr/>
        </p:nvSpPr>
        <p:spPr>
          <a:xfrm>
            <a:off x="2540000" y="4826000"/>
            <a:ext cx="7112000" cy="1016000"/>
          </a:xfrm>
          <a:prstGeom prst="rect">
            <a:avLst/>
          </a:prstGeom>
          <a:solidFill>
            <a:srgbClr val="CBC0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b="1">
                <a:solidFill>
                  <a:srgbClr val="222E2E"/>
                </a:solidFill>
              </a:rPr>
              <a:t>Hexnode Zero Trust Automation Suite</a:t>
            </a:r>
            <a:endParaRPr lang="en-US" sz="2000" b="1">
              <a:solidFill>
                <a:srgbClr val="222E2E"/>
              </a:solidFill>
            </a:endParaRPr>
          </a:p>
        </p:txBody>
      </p:sp>
    </p:spTree>
    <p:extLst>
      <p:ext uri="{BB962C8B-B14F-4D97-AF65-F5344CB8AC3E}">
        <p14:creationId xmlns:p14="http://schemas.microsoft.com/office/powerpoint/2010/main" val="271780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707</Words>
  <Application>Microsoft Office PowerPoint</Application>
  <PresentationFormat>Widescreen</PresentationFormat>
  <Paragraphs>94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KajalKumar Shal</dc:creator>
  <cp:lastModifiedBy>KajalKumar Shal</cp:lastModifiedBy>
  <cp:revision>2</cp:revision>
  <dcterms:created xsi:type="dcterms:W3CDTF">2026-08-06T09:28:56Z</dcterms:created>
  <dcterms:modified xsi:type="dcterms:W3CDTF">2026-08-06T09:33:58Z</dcterms:modified>
</cp:coreProperties>
</file>